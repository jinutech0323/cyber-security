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3" r:id="rId3"/>
    <p:sldId id="274" r:id="rId4"/>
    <p:sldId id="282" r:id="rId5"/>
    <p:sldId id="285" r:id="rId6"/>
    <p:sldId id="286" r:id="rId7"/>
    <p:sldId id="283" r:id="rId8"/>
    <p:sldId id="28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72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>
      <p:cViewPr varScale="1">
        <p:scale>
          <a:sx n="75" d="100"/>
          <a:sy n="75" d="100"/>
        </p:scale>
        <p:origin x="653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927" y="4750307"/>
            <a:ext cx="1894072" cy="21076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093" y="3115555"/>
            <a:ext cx="1725028" cy="43337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14631" y="216575"/>
            <a:ext cx="2099927" cy="52698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893" y="3115555"/>
            <a:ext cx="1725028" cy="43337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2505" y="3115555"/>
            <a:ext cx="1725028" cy="43337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2305" y="3115555"/>
            <a:ext cx="1725028" cy="43337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2007672" cy="217660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41833" y="3115555"/>
            <a:ext cx="1725028" cy="4333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09084" y="2466594"/>
            <a:ext cx="3594734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97668" y="4750307"/>
            <a:ext cx="1894331" cy="21076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3023" y="3115055"/>
            <a:ext cx="1725168" cy="43433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14559" y="216408"/>
            <a:ext cx="2100072" cy="52730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82823" y="3115055"/>
            <a:ext cx="1725168" cy="43433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12435" y="3115055"/>
            <a:ext cx="1725167" cy="43433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22235" y="3115055"/>
            <a:ext cx="1725168" cy="43433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1764" y="3115055"/>
            <a:ext cx="1725168" cy="43433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2007108" cy="21762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882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3210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219200" y="2590800"/>
            <a:ext cx="9677400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5400" dirty="0"/>
              <a:t>ML  in Cybersecurity</a:t>
            </a:r>
            <a:endParaRPr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76D227-0D31-966D-81BD-45DB047C9D92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Machine Learning?</a:t>
            </a:r>
          </a:p>
          <a:p>
            <a:pPr>
              <a:buNone/>
            </a:pPr>
            <a:r>
              <a:rPr lang="en-US" dirty="0"/>
              <a:t>Machine Learning is when a computer </a:t>
            </a:r>
            <a:r>
              <a:rPr lang="en-US" b="1" dirty="0"/>
              <a:t>learns patterns from data</a:t>
            </a:r>
            <a:r>
              <a:rPr lang="en-US" dirty="0"/>
              <a:t> and makes predictions </a:t>
            </a:r>
            <a:r>
              <a:rPr lang="en-US" b="1" dirty="0"/>
              <a:t>without manually programming rules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🧠 Example:</a:t>
            </a:r>
            <a:br>
              <a:rPr lang="en-US" dirty="0"/>
            </a:br>
            <a:r>
              <a:rPr lang="en-US" dirty="0"/>
              <a:t>If you mark 1000 emails as </a:t>
            </a:r>
            <a:r>
              <a:rPr lang="en-US" b="1" dirty="0"/>
              <a:t>spam/not spam</a:t>
            </a:r>
            <a:r>
              <a:rPr lang="en-US" dirty="0"/>
              <a:t>, the model learns from patterns: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Spam has many </a:t>
            </a:r>
            <a:r>
              <a:rPr lang="en-US" b="1" dirty="0"/>
              <a:t>“win”, “free”, “prize”, “offer”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 mail contains </a:t>
            </a:r>
            <a:r>
              <a:rPr lang="en-US" b="1" dirty="0"/>
              <a:t>work, meeting, invoice</a:t>
            </a:r>
            <a:endParaRPr lang="en-US" dirty="0"/>
          </a:p>
          <a:p>
            <a:pPr>
              <a:buNone/>
            </a:pPr>
            <a:r>
              <a:rPr lang="en-US" dirty="0"/>
              <a:t>Then it predicts for new emails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246394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8E36FE-93FE-04DF-3217-35039F6D3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379217"/>
              </p:ext>
            </p:extLst>
          </p:nvPr>
        </p:nvGraphicFramePr>
        <p:xfrm>
          <a:off x="1371600" y="2133600"/>
          <a:ext cx="8151669" cy="2011680"/>
        </p:xfrm>
        <a:graphic>
          <a:graphicData uri="http://schemas.openxmlformats.org/drawingml/2006/table">
            <a:tbl>
              <a:tblPr/>
              <a:tblGrid>
                <a:gridCol w="2717223">
                  <a:extLst>
                    <a:ext uri="{9D8B030D-6E8A-4147-A177-3AD203B41FA5}">
                      <a16:colId xmlns:a16="http://schemas.microsoft.com/office/drawing/2014/main" val="3668564625"/>
                    </a:ext>
                  </a:extLst>
                </a:gridCol>
                <a:gridCol w="2717223">
                  <a:extLst>
                    <a:ext uri="{9D8B030D-6E8A-4147-A177-3AD203B41FA5}">
                      <a16:colId xmlns:a16="http://schemas.microsoft.com/office/drawing/2014/main" val="112729038"/>
                    </a:ext>
                  </a:extLst>
                </a:gridCol>
                <a:gridCol w="2717223">
                  <a:extLst>
                    <a:ext uri="{9D8B030D-6E8A-4147-A177-3AD203B41FA5}">
                      <a16:colId xmlns:a16="http://schemas.microsoft.com/office/drawing/2014/main" val="14018752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Cyber Security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102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Supervised Learning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already labeled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Email </a:t>
                      </a:r>
                      <a:r>
                        <a:rPr lang="en-US" b="1"/>
                        <a:t>Spam / Not Spam</a:t>
                      </a:r>
                      <a:r>
                        <a:rPr lang="en-US"/>
                        <a:t>, Malicious / Safe traffic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56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Unsupervised Learning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labels, model finds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Anomaly detection</a:t>
                      </a:r>
                      <a:r>
                        <a:rPr lang="en-US"/>
                        <a:t> → new type of attack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718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Reinforcement Learning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 by reward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Anti-virus improving itself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68788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0CA92232-8C11-40FE-A415-3FBB6D524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040" y="762000"/>
            <a:ext cx="9111456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550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D019AA-AC81-2038-7310-468C21CA7071}"/>
              </a:ext>
            </a:extLst>
          </p:cNvPr>
          <p:cNvSpPr txBox="1"/>
          <p:nvPr/>
        </p:nvSpPr>
        <p:spPr>
          <a:xfrm>
            <a:off x="1143000" y="474345"/>
            <a:ext cx="96774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📌 Copy &amp; Run in Colab: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# Supervised Learning Example: Classify numbers as Even or Odd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import </a:t>
            </a:r>
            <a:r>
              <a:rPr lang="en-IN" dirty="0" err="1">
                <a:latin typeface="Courier New" panose="02070309020205020404" pitchFamily="49" charset="0"/>
              </a:rPr>
              <a:t>numpy</a:t>
            </a:r>
            <a:r>
              <a:rPr lang="en-IN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from </a:t>
            </a:r>
            <a:r>
              <a:rPr lang="en-IN" dirty="0" err="1">
                <a:latin typeface="Courier New" panose="02070309020205020404" pitchFamily="49" charset="0"/>
              </a:rPr>
              <a:t>sklearn.neighbors</a:t>
            </a:r>
            <a:r>
              <a:rPr lang="en-IN" dirty="0">
                <a:latin typeface="Courier New" panose="02070309020205020404" pitchFamily="49" charset="0"/>
              </a:rPr>
              <a:t> import </a:t>
            </a:r>
            <a:r>
              <a:rPr lang="en-IN" dirty="0" err="1">
                <a:latin typeface="Courier New" panose="02070309020205020404" pitchFamily="49" charset="0"/>
              </a:rPr>
              <a:t>KNeighborsClassifier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# Training Data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X = </a:t>
            </a:r>
            <a:r>
              <a:rPr lang="en-IN" dirty="0" err="1">
                <a:latin typeface="Courier New" panose="02070309020205020404" pitchFamily="49" charset="0"/>
              </a:rPr>
              <a:t>np.array</a:t>
            </a:r>
            <a:r>
              <a:rPr lang="en-IN" dirty="0">
                <a:latin typeface="Courier New" panose="02070309020205020404" pitchFamily="49" charset="0"/>
              </a:rPr>
              <a:t>([[2],[4],[6],[8],[1],[3],[5],[7]])  # Features (numbers)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y = </a:t>
            </a:r>
            <a:r>
              <a:rPr lang="en-IN" dirty="0" err="1">
                <a:latin typeface="Courier New" panose="02070309020205020404" pitchFamily="49" charset="0"/>
              </a:rPr>
              <a:t>np.array</a:t>
            </a:r>
            <a:r>
              <a:rPr lang="en-IN" dirty="0">
                <a:latin typeface="Courier New" panose="02070309020205020404" pitchFamily="49" charset="0"/>
              </a:rPr>
              <a:t>([0,0,0,0,1,1,1,1])                # Labels (0=Even, 1=Odd)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# Model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model = </a:t>
            </a:r>
            <a:r>
              <a:rPr lang="en-IN" dirty="0" err="1">
                <a:latin typeface="Courier New" panose="02070309020205020404" pitchFamily="49" charset="0"/>
              </a:rPr>
              <a:t>KNeighborsClassifier</a:t>
            </a:r>
            <a:r>
              <a:rPr lang="en-IN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model.fit</a:t>
            </a:r>
            <a:r>
              <a:rPr lang="en-IN" dirty="0">
                <a:latin typeface="Courier New" panose="02070309020205020404" pitchFamily="49" charset="0"/>
              </a:rPr>
              <a:t>(X, y)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# Predict new values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test_data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np.array</a:t>
            </a:r>
            <a:r>
              <a:rPr lang="en-IN" dirty="0">
                <a:latin typeface="Courier New" panose="02070309020205020404" pitchFamily="49" charset="0"/>
              </a:rPr>
              <a:t>([[10],[9],[15]])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pred = </a:t>
            </a:r>
            <a:r>
              <a:rPr lang="en-IN" dirty="0" err="1">
                <a:latin typeface="Courier New" panose="02070309020205020404" pitchFamily="49" charset="0"/>
              </a:rPr>
              <a:t>model.predict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test_data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print("Input:", </a:t>
            </a:r>
            <a:r>
              <a:rPr lang="en-IN" dirty="0" err="1">
                <a:latin typeface="Courier New" panose="02070309020205020404" pitchFamily="49" charset="0"/>
              </a:rPr>
              <a:t>test_data.ravel</a:t>
            </a:r>
            <a:r>
              <a:rPr lang="en-IN" dirty="0">
                <a:latin typeface="Courier New" panose="02070309020205020404" pitchFamily="49" charset="0"/>
              </a:rPr>
              <a:t>())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print("Prediction (0=Even, 1=Odd):", pred)</a:t>
            </a:r>
          </a:p>
        </p:txBody>
      </p:sp>
    </p:spTree>
    <p:extLst>
      <p:ext uri="{BB962C8B-B14F-4D97-AF65-F5344CB8AC3E}">
        <p14:creationId xmlns:p14="http://schemas.microsoft.com/office/powerpoint/2010/main" val="2320005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40D487-BEC0-16CF-05D4-4C8EC329F06F}"/>
              </a:ext>
            </a:extLst>
          </p:cNvPr>
          <p:cNvSpPr txBox="1"/>
          <p:nvPr/>
        </p:nvSpPr>
        <p:spPr>
          <a:xfrm>
            <a:off x="3048000" y="241333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</a:t>
            </a:r>
            <a:r>
              <a:rPr lang="en-US" b="1" dirty="0" err="1"/>
              <a:t>sklearn.neighbors</a:t>
            </a:r>
            <a:r>
              <a:rPr lang="en-US" b="1" dirty="0"/>
              <a:t> import </a:t>
            </a:r>
            <a:r>
              <a:rPr lang="en-US" b="1" dirty="0" err="1"/>
              <a:t>KNeighborsClassifier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are importing the </a:t>
            </a:r>
            <a:r>
              <a:rPr lang="en-US" b="1" dirty="0"/>
              <a:t>K-Nearest Neighbors (KNN)</a:t>
            </a:r>
            <a:r>
              <a:rPr lang="en-US" dirty="0"/>
              <a:t> classifier from </a:t>
            </a:r>
            <a:r>
              <a:rPr lang="en-US" b="1" dirty="0"/>
              <a:t>scikit-learn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KNN is a </a:t>
            </a:r>
            <a:r>
              <a:rPr lang="en-US" b="1" dirty="0"/>
              <a:t>Machine Learning algorithm</a:t>
            </a:r>
            <a:r>
              <a:rPr lang="en-US" dirty="0"/>
              <a:t> used for </a:t>
            </a:r>
            <a:r>
              <a:rPr lang="en-US" b="1" dirty="0"/>
              <a:t>classification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predicts the output by checking the </a:t>
            </a:r>
            <a:r>
              <a:rPr lang="en-US" b="1" dirty="0"/>
              <a:t>closest neighbors</a:t>
            </a:r>
            <a:r>
              <a:rPr lang="en-US" dirty="0"/>
              <a:t> in the dataset.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3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C52248-57BB-D943-F5EF-6E085D4FD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506893"/>
              </p:ext>
            </p:extLst>
          </p:nvPr>
        </p:nvGraphicFramePr>
        <p:xfrm>
          <a:off x="642144" y="3581400"/>
          <a:ext cx="10907712" cy="1371600"/>
        </p:xfrm>
        <a:graphic>
          <a:graphicData uri="http://schemas.openxmlformats.org/drawingml/2006/table">
            <a:tbl>
              <a:tblPr/>
              <a:tblGrid>
                <a:gridCol w="5453856">
                  <a:extLst>
                    <a:ext uri="{9D8B030D-6E8A-4147-A177-3AD203B41FA5}">
                      <a16:colId xmlns:a16="http://schemas.microsoft.com/office/drawing/2014/main" val="1267870430"/>
                    </a:ext>
                  </a:extLst>
                </a:gridCol>
                <a:gridCol w="5453856">
                  <a:extLst>
                    <a:ext uri="{9D8B030D-6E8A-4147-A177-3AD203B41FA5}">
                      <a16:colId xmlns:a16="http://schemas.microsoft.com/office/drawing/2014/main" val="24733070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595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X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 input features (example: height, weight, age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139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Output labels (example: apple/orange, fraud/not fraud,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73747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7B58E6E0-E4EB-A3B2-1A73-E6082C2C2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2178319"/>
            <a:ext cx="655161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What is fit()?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fit() means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train the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✔ What X and y mean?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0607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009DEF-9C63-A4C4-6CD5-1883BB172F0D}"/>
              </a:ext>
            </a:extLst>
          </p:cNvPr>
          <p:cNvSpPr txBox="1"/>
          <p:nvPr/>
        </p:nvSpPr>
        <p:spPr>
          <a:xfrm>
            <a:off x="3048000" y="296733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📌 Output 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Input: [10  9 15]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Prediction: [0 1 1]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/>
              <a:t>Data + Correct Answers → Train → Predict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837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EA6ECD-C2AF-C324-E2B6-8EFEB996848E}"/>
              </a:ext>
            </a:extLst>
          </p:cNvPr>
          <p:cNvSpPr txBox="1"/>
          <p:nvPr/>
        </p:nvSpPr>
        <p:spPr>
          <a:xfrm>
            <a:off x="1219200" y="990600"/>
            <a:ext cx="9372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📌 Copy &amp; Run: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# Unsupervised Learning Example: Grouping numbers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import </a:t>
            </a:r>
            <a:r>
              <a:rPr lang="en-IN" dirty="0" err="1">
                <a:latin typeface="Courier New" panose="02070309020205020404" pitchFamily="49" charset="0"/>
              </a:rPr>
              <a:t>numpy</a:t>
            </a:r>
            <a:r>
              <a:rPr lang="en-IN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from </a:t>
            </a:r>
            <a:r>
              <a:rPr lang="en-IN" dirty="0" err="1">
                <a:latin typeface="Courier New" panose="02070309020205020404" pitchFamily="49" charset="0"/>
              </a:rPr>
              <a:t>sklearn.cluster</a:t>
            </a:r>
            <a:r>
              <a:rPr lang="en-IN" dirty="0">
                <a:latin typeface="Courier New" panose="02070309020205020404" pitchFamily="49" charset="0"/>
              </a:rPr>
              <a:t> import </a:t>
            </a:r>
            <a:r>
              <a:rPr lang="en-IN" dirty="0" err="1">
                <a:latin typeface="Courier New" panose="02070309020205020404" pitchFamily="49" charset="0"/>
              </a:rPr>
              <a:t>KMeans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# Data (without labels)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X = </a:t>
            </a:r>
            <a:r>
              <a:rPr lang="en-IN" dirty="0" err="1">
                <a:latin typeface="Courier New" panose="02070309020205020404" pitchFamily="49" charset="0"/>
              </a:rPr>
              <a:t>np.array</a:t>
            </a:r>
            <a:r>
              <a:rPr lang="en-IN" dirty="0">
                <a:latin typeface="Courier New" panose="02070309020205020404" pitchFamily="49" charset="0"/>
              </a:rPr>
              <a:t>([[1],[2],[3],[10],[11],[12]])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# </a:t>
            </a:r>
            <a:r>
              <a:rPr lang="en-IN" dirty="0" err="1">
                <a:latin typeface="Courier New" panose="02070309020205020404" pitchFamily="49" charset="0"/>
              </a:rPr>
              <a:t>KMeans</a:t>
            </a:r>
            <a:r>
              <a:rPr lang="en-IN" dirty="0">
                <a:latin typeface="Courier New" panose="02070309020205020404" pitchFamily="49" charset="0"/>
              </a:rPr>
              <a:t> clustering into 2 groups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kmeans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KMeans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n_clusters</a:t>
            </a:r>
            <a:r>
              <a:rPr lang="en-IN" dirty="0">
                <a:latin typeface="Courier New" panose="02070309020205020404" pitchFamily="49" charset="0"/>
              </a:rPr>
              <a:t>=2, </a:t>
            </a:r>
            <a:r>
              <a:rPr lang="en-IN" dirty="0" err="1">
                <a:latin typeface="Courier New" panose="02070309020205020404" pitchFamily="49" charset="0"/>
              </a:rPr>
              <a:t>random_state</a:t>
            </a:r>
            <a:r>
              <a:rPr lang="en-IN" dirty="0">
                <a:latin typeface="Courier New" panose="02070309020205020404" pitchFamily="49" charset="0"/>
              </a:rPr>
              <a:t>=42)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kmeans.fit</a:t>
            </a:r>
            <a:r>
              <a:rPr lang="en-IN" dirty="0">
                <a:latin typeface="Courier New" panose="02070309020205020404" pitchFamily="49" charset="0"/>
              </a:rPr>
              <a:t>(X)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print("Cluster Labels:", </a:t>
            </a:r>
            <a:r>
              <a:rPr lang="en-IN" dirty="0" err="1">
                <a:latin typeface="Courier New" panose="02070309020205020404" pitchFamily="49" charset="0"/>
              </a:rPr>
              <a:t>kmeans.labels</a:t>
            </a:r>
            <a:r>
              <a:rPr lang="en-IN" dirty="0">
                <a:latin typeface="Courier New" panose="02070309020205020404" pitchFamily="49" charset="0"/>
              </a:rPr>
              <a:t>_)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print("Cluster </a:t>
            </a:r>
            <a:r>
              <a:rPr lang="en-IN" dirty="0" err="1">
                <a:latin typeface="Courier New" panose="02070309020205020404" pitchFamily="49" charset="0"/>
              </a:rPr>
              <a:t>Centers</a:t>
            </a:r>
            <a:r>
              <a:rPr lang="en-IN" dirty="0">
                <a:latin typeface="Courier New" panose="02070309020205020404" pitchFamily="49" charset="0"/>
              </a:rPr>
              <a:t>:", </a:t>
            </a:r>
            <a:r>
              <a:rPr lang="en-IN" dirty="0" err="1">
                <a:latin typeface="Courier New" panose="02070309020205020404" pitchFamily="49" charset="0"/>
              </a:rPr>
              <a:t>kmeans.cluster_centers</a:t>
            </a:r>
            <a:r>
              <a:rPr lang="en-IN" dirty="0">
                <a:latin typeface="Courier New" panose="02070309020205020404" pitchFamily="49" charset="0"/>
              </a:rPr>
              <a:t>_)</a:t>
            </a:r>
          </a:p>
          <a:p>
            <a:pPr>
              <a:buNone/>
            </a:pPr>
            <a:r>
              <a:rPr lang="en-IN" dirty="0"/>
              <a:t>📌 Output 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Cluster Labels: [1 1 1 0 0 0]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Cluster </a:t>
            </a:r>
            <a:r>
              <a:rPr lang="en-IN" dirty="0" err="1">
                <a:latin typeface="Courier New" panose="02070309020205020404" pitchFamily="49" charset="0"/>
              </a:rPr>
              <a:t>Centers</a:t>
            </a:r>
            <a:r>
              <a:rPr lang="en-IN" dirty="0">
                <a:latin typeface="Courier New" panose="02070309020205020404" pitchFamily="49" charset="0"/>
              </a:rPr>
              <a:t>: [[11] [2]]</a:t>
            </a:r>
          </a:p>
        </p:txBody>
      </p:sp>
    </p:spTree>
    <p:extLst>
      <p:ext uri="{BB962C8B-B14F-4D97-AF65-F5344CB8AC3E}">
        <p14:creationId xmlns:p14="http://schemas.microsoft.com/office/powerpoint/2010/main" val="1283826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2FC915-8E94-9D69-5814-86DFA9FC80DE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Why ML in Cyber Security? (Real Examples)</a:t>
            </a:r>
          </a:p>
          <a:p>
            <a:pPr>
              <a:buNone/>
            </a:pPr>
            <a:r>
              <a:rPr lang="en-IN" dirty="0"/>
              <a:t>1️⃣ </a:t>
            </a:r>
            <a:r>
              <a:rPr lang="en-IN" b="1" dirty="0"/>
              <a:t>Spam detection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ML detects phishing emails faster than humans</a:t>
            </a:r>
          </a:p>
          <a:p>
            <a:pPr>
              <a:buNone/>
            </a:pPr>
            <a:r>
              <a:rPr lang="en-IN" dirty="0"/>
              <a:t>2️⃣ </a:t>
            </a:r>
            <a:r>
              <a:rPr lang="en-IN" b="1" dirty="0"/>
              <a:t>Intrusion Detection (IDS)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Detects attacks like </a:t>
            </a:r>
            <a:r>
              <a:rPr lang="en-IN" b="1" dirty="0"/>
              <a:t>DoS, port scanning</a:t>
            </a:r>
            <a:endParaRPr lang="en-IN" dirty="0"/>
          </a:p>
          <a:p>
            <a:pPr>
              <a:buNone/>
            </a:pPr>
            <a:r>
              <a:rPr lang="en-IN" dirty="0"/>
              <a:t>3️⃣ </a:t>
            </a:r>
            <a:r>
              <a:rPr lang="en-IN" b="1" dirty="0"/>
              <a:t>Malware Classification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Identify ransomware based on </a:t>
            </a:r>
            <a:r>
              <a:rPr lang="en-IN" dirty="0" err="1"/>
              <a:t>behavior</a:t>
            </a:r>
            <a:endParaRPr lang="en-IN" dirty="0"/>
          </a:p>
          <a:p>
            <a:pPr>
              <a:buNone/>
            </a:pPr>
            <a:r>
              <a:rPr lang="en-IN" dirty="0"/>
              <a:t>4️⃣ </a:t>
            </a:r>
            <a:r>
              <a:rPr lang="en-IN" b="1" dirty="0"/>
              <a:t>URL Phishing Detection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Check if website is fake from URL features</a:t>
            </a:r>
          </a:p>
        </p:txBody>
      </p:sp>
    </p:spTree>
    <p:extLst>
      <p:ext uri="{BB962C8B-B14F-4D97-AF65-F5344CB8AC3E}">
        <p14:creationId xmlns:p14="http://schemas.microsoft.com/office/powerpoint/2010/main" val="800647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37ECAD-6EA6-761B-DFBF-609FF535942B}"/>
              </a:ext>
            </a:extLst>
          </p:cNvPr>
          <p:cNvSpPr txBox="1"/>
          <p:nvPr/>
        </p:nvSpPr>
        <p:spPr>
          <a:xfrm>
            <a:off x="3048000" y="310583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Import Dataset</a:t>
            </a:r>
          </a:p>
          <a:p>
            <a:r>
              <a:rPr lang="en-US" dirty="0"/>
              <a:t>We will use </a:t>
            </a:r>
            <a:r>
              <a:rPr lang="en-US" b="1" dirty="0"/>
              <a:t>UCI Spam Detection Dataset</a:t>
            </a:r>
            <a:r>
              <a:rPr lang="en-US" dirty="0"/>
              <a:t> (commonly used project dataset)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https://raw.githubusercontent.com/justmarkham/pycon-2016-tutorial/master/data/sms.tsv</a:t>
            </a:r>
          </a:p>
        </p:txBody>
      </p:sp>
    </p:spTree>
    <p:extLst>
      <p:ext uri="{BB962C8B-B14F-4D97-AF65-F5344CB8AC3E}">
        <p14:creationId xmlns:p14="http://schemas.microsoft.com/office/powerpoint/2010/main" val="3320389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9BA7CD-74FE-C921-1684-40C5523C5F5B}"/>
              </a:ext>
            </a:extLst>
          </p:cNvPr>
          <p:cNvSpPr txBox="1"/>
          <p:nvPr/>
        </p:nvSpPr>
        <p:spPr>
          <a:xfrm>
            <a:off x="3048000" y="751344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Step 1: Install required libraries</a:t>
            </a:r>
          </a:p>
          <a:p>
            <a:r>
              <a:rPr lang="en-IN" dirty="0"/>
              <a:t>!pip install </a:t>
            </a:r>
            <a:r>
              <a:rPr lang="en-IN" dirty="0" err="1"/>
              <a:t>sklearn</a:t>
            </a:r>
            <a:r>
              <a:rPr lang="en-IN" dirty="0"/>
              <a:t> pandas </a:t>
            </a:r>
            <a:r>
              <a:rPr lang="en-IN" dirty="0" err="1"/>
              <a:t>numpy</a:t>
            </a:r>
            <a:endParaRPr lang="en-IN" dirty="0"/>
          </a:p>
          <a:p>
            <a:endParaRPr lang="en-IN" dirty="0"/>
          </a:p>
          <a:p>
            <a:r>
              <a:rPr lang="en-IN" dirty="0"/>
              <a:t># Step 2: Import libraries</a:t>
            </a:r>
          </a:p>
          <a:p>
            <a:r>
              <a:rPr lang="en-IN" dirty="0"/>
              <a:t>import pandas as pd</a:t>
            </a:r>
          </a:p>
          <a:p>
            <a:r>
              <a:rPr lang="en-IN" dirty="0"/>
              <a:t>from </a:t>
            </a:r>
            <a:r>
              <a:rPr lang="en-IN" dirty="0" err="1"/>
              <a:t>sklearn.model_selection</a:t>
            </a:r>
            <a:r>
              <a:rPr lang="en-IN" dirty="0"/>
              <a:t> import </a:t>
            </a:r>
            <a:r>
              <a:rPr lang="en-IN" dirty="0" err="1"/>
              <a:t>train_test_split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sklearn.feature_extraction.text</a:t>
            </a:r>
            <a:r>
              <a:rPr lang="en-IN" dirty="0"/>
              <a:t> import </a:t>
            </a:r>
            <a:r>
              <a:rPr lang="en-IN" dirty="0" err="1"/>
              <a:t>TfidfVectorizer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sklearn.naive_bayes</a:t>
            </a:r>
            <a:r>
              <a:rPr lang="en-IN" dirty="0"/>
              <a:t> import </a:t>
            </a:r>
            <a:r>
              <a:rPr lang="en-IN" dirty="0" err="1"/>
              <a:t>MultinomialNB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sklearn.metrics</a:t>
            </a:r>
            <a:r>
              <a:rPr lang="en-IN" dirty="0"/>
              <a:t> import </a:t>
            </a:r>
            <a:r>
              <a:rPr lang="en-IN" dirty="0" err="1"/>
              <a:t>accuracy_score</a:t>
            </a:r>
            <a:r>
              <a:rPr lang="en-IN" dirty="0"/>
              <a:t>, </a:t>
            </a:r>
            <a:r>
              <a:rPr lang="en-IN" dirty="0" err="1"/>
              <a:t>confusion_matrix</a:t>
            </a:r>
            <a:endParaRPr lang="en-IN" dirty="0"/>
          </a:p>
          <a:p>
            <a:endParaRPr lang="en-IN" dirty="0"/>
          </a:p>
          <a:p>
            <a:r>
              <a:rPr lang="en-IN" dirty="0"/>
              <a:t># Step 3: Load dataset directly from URL</a:t>
            </a:r>
          </a:p>
          <a:p>
            <a:r>
              <a:rPr lang="en-IN" dirty="0" err="1"/>
              <a:t>url</a:t>
            </a:r>
            <a:r>
              <a:rPr lang="en-IN" dirty="0"/>
              <a:t> = "https://raw.githubusercontent.com/</a:t>
            </a:r>
            <a:r>
              <a:rPr lang="en-IN" dirty="0" err="1"/>
              <a:t>justmarkham</a:t>
            </a:r>
            <a:r>
              <a:rPr lang="en-IN" dirty="0"/>
              <a:t>/pycon-2016-tutorial/master/data/</a:t>
            </a:r>
            <a:r>
              <a:rPr lang="en-IN" dirty="0" err="1"/>
              <a:t>sms.tsv</a:t>
            </a:r>
            <a:r>
              <a:rPr lang="en-IN" dirty="0"/>
              <a:t>"</a:t>
            </a:r>
          </a:p>
          <a:p>
            <a:r>
              <a:rPr lang="en-IN" dirty="0"/>
              <a:t>data = </a:t>
            </a:r>
            <a:r>
              <a:rPr lang="en-IN" dirty="0" err="1"/>
              <a:t>pd.read_csv</a:t>
            </a:r>
            <a:r>
              <a:rPr lang="en-IN" dirty="0"/>
              <a:t>(</a:t>
            </a:r>
            <a:r>
              <a:rPr lang="en-IN" dirty="0" err="1"/>
              <a:t>url</a:t>
            </a:r>
            <a:r>
              <a:rPr lang="en-IN" dirty="0"/>
              <a:t>, </a:t>
            </a:r>
            <a:r>
              <a:rPr lang="en-IN" dirty="0" err="1"/>
              <a:t>sep</a:t>
            </a:r>
            <a:r>
              <a:rPr lang="en-IN" dirty="0"/>
              <a:t>='\t', names=['label', 'message'])</a:t>
            </a:r>
          </a:p>
          <a:p>
            <a:endParaRPr lang="en-IN" dirty="0"/>
          </a:p>
          <a:p>
            <a:r>
              <a:rPr lang="en-IN" dirty="0" err="1"/>
              <a:t>data.head</a:t>
            </a:r>
            <a:r>
              <a:rPr lang="en-IN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51A031-0541-2236-4AA0-F5F102528B68}"/>
              </a:ext>
            </a:extLst>
          </p:cNvPr>
          <p:cNvSpPr txBox="1"/>
          <p:nvPr/>
        </p:nvSpPr>
        <p:spPr>
          <a:xfrm>
            <a:off x="1371600" y="3464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1: Import Dataset</a:t>
            </a:r>
          </a:p>
        </p:txBody>
      </p:sp>
    </p:spTree>
    <p:extLst>
      <p:ext uri="{BB962C8B-B14F-4D97-AF65-F5344CB8AC3E}">
        <p14:creationId xmlns:p14="http://schemas.microsoft.com/office/powerpoint/2010/main" val="3821956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0E1B3-DF1A-CC65-AFCA-E6E4FBB84209}"/>
              </a:ext>
            </a:extLst>
          </p:cNvPr>
          <p:cNvSpPr txBox="1"/>
          <p:nvPr/>
        </p:nvSpPr>
        <p:spPr>
          <a:xfrm>
            <a:off x="3048000" y="2828836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2: Convert Labels (spam → 1, ham → 0)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data['</a:t>
            </a:r>
            <a:r>
              <a:rPr lang="en-IN" dirty="0" err="1">
                <a:latin typeface="Courier New" panose="02070309020205020404" pitchFamily="49" charset="0"/>
              </a:rPr>
              <a:t>label_num</a:t>
            </a:r>
            <a:r>
              <a:rPr lang="en-IN" dirty="0">
                <a:latin typeface="Courier New" panose="02070309020205020404" pitchFamily="49" charset="0"/>
              </a:rPr>
              <a:t>'] = data['label'].map({'ham':0, 'spam':1})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data.head</a:t>
            </a:r>
            <a:r>
              <a:rPr lang="en-IN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r>
              <a:rPr lang="en-IN" b="1" dirty="0"/>
              <a:t>Step 3: Split Data for Training</a:t>
            </a:r>
          </a:p>
          <a:p>
            <a:pPr rtl="0"/>
            <a:r>
              <a:rPr lang="en-IN" dirty="0" err="1"/>
              <a:t>X_train</a:t>
            </a:r>
            <a:r>
              <a:rPr lang="en-IN" dirty="0"/>
              <a:t>, </a:t>
            </a:r>
            <a:r>
              <a:rPr lang="en-IN" dirty="0" err="1"/>
              <a:t>X_test</a:t>
            </a:r>
            <a:r>
              <a:rPr lang="en-IN" dirty="0"/>
              <a:t>, </a:t>
            </a:r>
            <a:r>
              <a:rPr lang="en-IN" dirty="0" err="1"/>
              <a:t>y_train</a:t>
            </a:r>
            <a:r>
              <a:rPr lang="en-IN" dirty="0"/>
              <a:t>, </a:t>
            </a:r>
            <a:r>
              <a:rPr lang="en-IN" dirty="0" err="1"/>
              <a:t>y_test</a:t>
            </a:r>
            <a:r>
              <a:rPr lang="en-IN" dirty="0"/>
              <a:t> = </a:t>
            </a:r>
            <a:r>
              <a:rPr lang="en-IN" dirty="0" err="1"/>
              <a:t>train_test_split</a:t>
            </a:r>
            <a:r>
              <a:rPr lang="en-IN" dirty="0"/>
              <a:t>(</a:t>
            </a:r>
          </a:p>
          <a:p>
            <a:pPr rtl="0"/>
            <a:r>
              <a:rPr lang="en-IN" dirty="0"/>
              <a:t>    data['message'], data['</a:t>
            </a:r>
            <a:r>
              <a:rPr lang="en-IN" dirty="0" err="1"/>
              <a:t>label_num</a:t>
            </a:r>
            <a:r>
              <a:rPr lang="en-IN" dirty="0"/>
              <a:t>'], </a:t>
            </a:r>
            <a:r>
              <a:rPr lang="en-IN" dirty="0" err="1"/>
              <a:t>test_size</a:t>
            </a:r>
            <a:r>
              <a:rPr lang="en-IN" dirty="0"/>
              <a:t>=0.2, </a:t>
            </a:r>
            <a:r>
              <a:rPr lang="en-IN" dirty="0" err="1"/>
              <a:t>random_state</a:t>
            </a:r>
            <a:r>
              <a:rPr lang="en-IN" dirty="0"/>
              <a:t>=42</a:t>
            </a:r>
          </a:p>
          <a:p>
            <a:pPr rtl="0"/>
            <a:r>
              <a:rPr lang="en-IN" dirty="0"/>
              <a:t>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63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E2DA14-04F3-69CB-0EF1-99731A42EF68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4: Convert Text → Numeric (TF-IDF)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vectorizer = </a:t>
            </a:r>
            <a:r>
              <a:rPr lang="en-IN" dirty="0" err="1">
                <a:latin typeface="Courier New" panose="02070309020205020404" pitchFamily="49" charset="0"/>
              </a:rPr>
              <a:t>TfidfVectorizer</a:t>
            </a:r>
            <a:r>
              <a:rPr lang="en-IN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X_train_tfidf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vectorizer.fit_transform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X_train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X_test_tfidf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vectorizer.transform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X_test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🤖 Step 5: Train Naive Bayes Model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model = </a:t>
            </a:r>
            <a:r>
              <a:rPr lang="en-IN" dirty="0" err="1">
                <a:latin typeface="Courier New" panose="02070309020205020404" pitchFamily="49" charset="0"/>
              </a:rPr>
              <a:t>MultinomialNB</a:t>
            </a:r>
            <a:r>
              <a:rPr lang="en-IN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model.fit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X_train_tfidf</a:t>
            </a:r>
            <a:r>
              <a:rPr lang="en-IN" dirty="0">
                <a:latin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</a:rPr>
              <a:t>y_train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43658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D046BA-A3D1-5316-662E-F3BC2B1CC6FD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Test Accuracy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y_pred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model.predict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X_test_tfidf</a:t>
            </a:r>
            <a:r>
              <a:rPr lang="en-US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print("Accuracy:", </a:t>
            </a:r>
            <a:r>
              <a:rPr lang="en-US" dirty="0" err="1">
                <a:latin typeface="Courier New" panose="02070309020205020404" pitchFamily="49" charset="0"/>
              </a:rPr>
              <a:t>accuracy_score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y_test</a:t>
            </a:r>
            <a:r>
              <a:rPr lang="en-US" dirty="0">
                <a:latin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</a:rPr>
              <a:t>y_pred</a:t>
            </a:r>
            <a:r>
              <a:rPr lang="en-US" dirty="0">
                <a:latin typeface="Courier New" panose="02070309020205020404" pitchFamily="49" charset="0"/>
              </a:rPr>
              <a:t>))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</a:rPr>
              <a:t>confusion_matrix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y_test</a:t>
            </a:r>
            <a:r>
              <a:rPr lang="en-US" dirty="0">
                <a:latin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</a:rPr>
              <a:t>y_pred</a:t>
            </a:r>
            <a:r>
              <a:rPr lang="en-US" dirty="0"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US" dirty="0"/>
              <a:t>Expected: </a:t>
            </a:r>
            <a:r>
              <a:rPr lang="en-US" b="1" dirty="0"/>
              <a:t>94–98% accuracy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816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6DE195-71A9-57A7-F2BE-3DAA8F6F12FB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Predict New Custom Email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email = ["Congratulations! You won a free gift card, click here now!"]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email_tfidf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vectorizer.transform</a:t>
            </a:r>
            <a:r>
              <a:rPr lang="en-IN" dirty="0">
                <a:latin typeface="Courier New" panose="02070309020205020404" pitchFamily="49" charset="0"/>
              </a:rPr>
              <a:t>(email)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print("Prediction (1=Spam, 0=Not Spam):", </a:t>
            </a:r>
            <a:r>
              <a:rPr lang="en-IN" dirty="0" err="1">
                <a:latin typeface="Courier New" panose="02070309020205020404" pitchFamily="49" charset="0"/>
              </a:rPr>
              <a:t>model.predict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email_tfidf</a:t>
            </a:r>
            <a:r>
              <a:rPr lang="en-IN" dirty="0"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IN" dirty="0"/>
              <a:t>Output 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Prediction: [1] → SPAM</a:t>
            </a:r>
          </a:p>
        </p:txBody>
      </p:sp>
    </p:spTree>
    <p:extLst>
      <p:ext uri="{BB962C8B-B14F-4D97-AF65-F5344CB8AC3E}">
        <p14:creationId xmlns:p14="http://schemas.microsoft.com/office/powerpoint/2010/main" val="2804192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10E066-700E-6854-2911-184503049E8D}"/>
              </a:ext>
            </a:extLst>
          </p:cNvPr>
          <p:cNvSpPr txBox="1"/>
          <p:nvPr/>
        </p:nvSpPr>
        <p:spPr>
          <a:xfrm>
            <a:off x="6743702" y="3124199"/>
            <a:ext cx="4038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THANK YOU </a:t>
            </a:r>
            <a:endParaRPr lang="en-IN" sz="8800" b="1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D4105D3-7C81-A560-FE71-4F24A6884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17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</TotalTime>
  <Words>992</Words>
  <Application>Microsoft Office PowerPoint</Application>
  <PresentationFormat>Widescreen</PresentationFormat>
  <Paragraphs>138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ML  in Cybersecurity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</dc:creator>
  <cp:lastModifiedBy>jinu krishnan</cp:lastModifiedBy>
  <cp:revision>8</cp:revision>
  <dcterms:created xsi:type="dcterms:W3CDTF">2025-06-19T08:37:38Z</dcterms:created>
  <dcterms:modified xsi:type="dcterms:W3CDTF">2025-11-27T14:11:29Z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2025-06-19T00:00:00Z</vt:filetime>
  </property>
  <property fmtid="{D5CDD505-2E9C-101B-9397-08002B2CF9AE}" pid="5" name="Producer">
    <vt:lpwstr>Microsoft® PowerPoint® 2013</vt:lpwstr>
  </property>
</Properties>
</file>