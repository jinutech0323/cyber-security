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3" r:id="rId3"/>
    <p:sldId id="293" r:id="rId4"/>
    <p:sldId id="294" r:id="rId5"/>
    <p:sldId id="296" r:id="rId6"/>
    <p:sldId id="297" r:id="rId7"/>
    <p:sldId id="295" r:id="rId8"/>
    <p:sldId id="298" r:id="rId9"/>
    <p:sldId id="299" r:id="rId10"/>
    <p:sldId id="300" r:id="rId11"/>
    <p:sldId id="301" r:id="rId12"/>
    <p:sldId id="302" r:id="rId13"/>
    <p:sldId id="303" r:id="rId14"/>
    <p:sldId id="304" r:id="rId15"/>
    <p:sldId id="305" r:id="rId16"/>
    <p:sldId id="306" r:id="rId17"/>
    <p:sldId id="307" r:id="rId18"/>
    <p:sldId id="291" r:id="rId19"/>
    <p:sldId id="272" r:id="rId2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p:cViewPr varScale="1">
        <p:scale>
          <a:sx n="78" d="100"/>
          <a:sy n="78" d="100"/>
        </p:scale>
        <p:origin x="878"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0297927" y="4750307"/>
            <a:ext cx="1894072" cy="2107692"/>
          </a:xfrm>
          <a:prstGeom prst="rect">
            <a:avLst/>
          </a:prstGeom>
        </p:spPr>
      </p:pic>
      <p:pic>
        <p:nvPicPr>
          <p:cNvPr id="17" name="bg object 17"/>
          <p:cNvPicPr/>
          <p:nvPr/>
        </p:nvPicPr>
        <p:blipFill>
          <a:blip r:embed="rId3" cstate="print"/>
          <a:stretch>
            <a:fillRect/>
          </a:stretch>
        </p:blipFill>
        <p:spPr>
          <a:xfrm>
            <a:off x="573093" y="3115555"/>
            <a:ext cx="1725028" cy="433379"/>
          </a:xfrm>
          <a:prstGeom prst="rect">
            <a:avLst/>
          </a:prstGeom>
        </p:spPr>
      </p:pic>
      <p:pic>
        <p:nvPicPr>
          <p:cNvPr id="18" name="bg object 18"/>
          <p:cNvPicPr/>
          <p:nvPr/>
        </p:nvPicPr>
        <p:blipFill>
          <a:blip r:embed="rId4" cstate="print"/>
          <a:stretch>
            <a:fillRect/>
          </a:stretch>
        </p:blipFill>
        <p:spPr>
          <a:xfrm>
            <a:off x="9814631" y="216575"/>
            <a:ext cx="2099927" cy="526980"/>
          </a:xfrm>
          <a:prstGeom prst="rect">
            <a:avLst/>
          </a:prstGeom>
        </p:spPr>
      </p:pic>
      <p:pic>
        <p:nvPicPr>
          <p:cNvPr id="19" name="bg object 19"/>
          <p:cNvPicPr/>
          <p:nvPr/>
        </p:nvPicPr>
        <p:blipFill>
          <a:blip r:embed="rId3" cstate="print"/>
          <a:stretch>
            <a:fillRect/>
          </a:stretch>
        </p:blipFill>
        <p:spPr>
          <a:xfrm>
            <a:off x="2782893" y="3115555"/>
            <a:ext cx="1725028" cy="433379"/>
          </a:xfrm>
          <a:prstGeom prst="rect">
            <a:avLst/>
          </a:prstGeom>
        </p:spPr>
      </p:pic>
      <p:pic>
        <p:nvPicPr>
          <p:cNvPr id="20" name="bg object 20"/>
          <p:cNvPicPr/>
          <p:nvPr/>
        </p:nvPicPr>
        <p:blipFill>
          <a:blip r:embed="rId3" cstate="print"/>
          <a:stretch>
            <a:fillRect/>
          </a:stretch>
        </p:blipFill>
        <p:spPr>
          <a:xfrm>
            <a:off x="5012505" y="3115555"/>
            <a:ext cx="1725028" cy="433379"/>
          </a:xfrm>
          <a:prstGeom prst="rect">
            <a:avLst/>
          </a:prstGeom>
        </p:spPr>
      </p:pic>
      <p:pic>
        <p:nvPicPr>
          <p:cNvPr id="21" name="bg object 21"/>
          <p:cNvPicPr/>
          <p:nvPr/>
        </p:nvPicPr>
        <p:blipFill>
          <a:blip r:embed="rId3" cstate="print"/>
          <a:stretch>
            <a:fillRect/>
          </a:stretch>
        </p:blipFill>
        <p:spPr>
          <a:xfrm>
            <a:off x="7222305" y="3115555"/>
            <a:ext cx="1725028" cy="433379"/>
          </a:xfrm>
          <a:prstGeom prst="rect">
            <a:avLst/>
          </a:prstGeom>
        </p:spPr>
      </p:pic>
      <p:pic>
        <p:nvPicPr>
          <p:cNvPr id="22" name="bg object 22"/>
          <p:cNvPicPr/>
          <p:nvPr/>
        </p:nvPicPr>
        <p:blipFill>
          <a:blip r:embed="rId5" cstate="print"/>
          <a:stretch>
            <a:fillRect/>
          </a:stretch>
        </p:blipFill>
        <p:spPr>
          <a:xfrm>
            <a:off x="0" y="0"/>
            <a:ext cx="2007672" cy="2176601"/>
          </a:xfrm>
          <a:prstGeom prst="rect">
            <a:avLst/>
          </a:prstGeom>
        </p:spPr>
      </p:pic>
      <p:pic>
        <p:nvPicPr>
          <p:cNvPr id="23" name="bg object 23"/>
          <p:cNvPicPr/>
          <p:nvPr/>
        </p:nvPicPr>
        <p:blipFill>
          <a:blip r:embed="rId3" cstate="print"/>
          <a:stretch>
            <a:fillRect/>
          </a:stretch>
        </p:blipFill>
        <p:spPr>
          <a:xfrm>
            <a:off x="9541833" y="3115555"/>
            <a:ext cx="1725028" cy="433379"/>
          </a:xfrm>
          <a:prstGeom prst="rect">
            <a:avLst/>
          </a:prstGeom>
        </p:spPr>
      </p:pic>
      <p:sp>
        <p:nvSpPr>
          <p:cNvPr id="2" name="Holder 2"/>
          <p:cNvSpPr>
            <a:spLocks noGrp="1"/>
          </p:cNvSpPr>
          <p:nvPr>
            <p:ph type="ctrTitle"/>
          </p:nvPr>
        </p:nvSpPr>
        <p:spPr>
          <a:xfrm>
            <a:off x="4109084" y="2466594"/>
            <a:ext cx="3594734" cy="513714"/>
          </a:xfrm>
          <a:prstGeom prst="rect">
            <a:avLst/>
          </a:prstGeom>
        </p:spPr>
        <p:txBody>
          <a:bodyPr wrap="square" lIns="0" tIns="0" rIns="0" bIns="0">
            <a:spAutoFit/>
          </a:bodyPr>
          <a:lstStyle>
            <a:lvl1pPr>
              <a:defRPr sz="2800" b="1" i="0">
                <a:solidFill>
                  <a:srgbClr val="3A7C22"/>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3A7C22"/>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3A7C22"/>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3A7C22"/>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0297668" y="4750307"/>
            <a:ext cx="1894331" cy="2107692"/>
          </a:xfrm>
          <a:prstGeom prst="rect">
            <a:avLst/>
          </a:prstGeom>
        </p:spPr>
      </p:pic>
      <p:pic>
        <p:nvPicPr>
          <p:cNvPr id="17" name="bg object 17"/>
          <p:cNvPicPr/>
          <p:nvPr/>
        </p:nvPicPr>
        <p:blipFill>
          <a:blip r:embed="rId8" cstate="print"/>
          <a:stretch>
            <a:fillRect/>
          </a:stretch>
        </p:blipFill>
        <p:spPr>
          <a:xfrm>
            <a:off x="573023" y="3115055"/>
            <a:ext cx="1725168" cy="434339"/>
          </a:xfrm>
          <a:prstGeom prst="rect">
            <a:avLst/>
          </a:prstGeom>
        </p:spPr>
      </p:pic>
      <p:pic>
        <p:nvPicPr>
          <p:cNvPr id="18" name="bg object 18"/>
          <p:cNvPicPr/>
          <p:nvPr/>
        </p:nvPicPr>
        <p:blipFill>
          <a:blip r:embed="rId9" cstate="print"/>
          <a:stretch>
            <a:fillRect/>
          </a:stretch>
        </p:blipFill>
        <p:spPr>
          <a:xfrm>
            <a:off x="9814559" y="216408"/>
            <a:ext cx="2100072" cy="527304"/>
          </a:xfrm>
          <a:prstGeom prst="rect">
            <a:avLst/>
          </a:prstGeom>
        </p:spPr>
      </p:pic>
      <p:pic>
        <p:nvPicPr>
          <p:cNvPr id="19" name="bg object 19"/>
          <p:cNvPicPr/>
          <p:nvPr/>
        </p:nvPicPr>
        <p:blipFill>
          <a:blip r:embed="rId8" cstate="print"/>
          <a:stretch>
            <a:fillRect/>
          </a:stretch>
        </p:blipFill>
        <p:spPr>
          <a:xfrm>
            <a:off x="2782823" y="3115055"/>
            <a:ext cx="1725168" cy="434339"/>
          </a:xfrm>
          <a:prstGeom prst="rect">
            <a:avLst/>
          </a:prstGeom>
        </p:spPr>
      </p:pic>
      <p:pic>
        <p:nvPicPr>
          <p:cNvPr id="20" name="bg object 20"/>
          <p:cNvPicPr/>
          <p:nvPr/>
        </p:nvPicPr>
        <p:blipFill>
          <a:blip r:embed="rId8" cstate="print"/>
          <a:stretch>
            <a:fillRect/>
          </a:stretch>
        </p:blipFill>
        <p:spPr>
          <a:xfrm>
            <a:off x="5012435" y="3115055"/>
            <a:ext cx="1725167" cy="434339"/>
          </a:xfrm>
          <a:prstGeom prst="rect">
            <a:avLst/>
          </a:prstGeom>
        </p:spPr>
      </p:pic>
      <p:pic>
        <p:nvPicPr>
          <p:cNvPr id="21" name="bg object 21"/>
          <p:cNvPicPr/>
          <p:nvPr/>
        </p:nvPicPr>
        <p:blipFill>
          <a:blip r:embed="rId8" cstate="print"/>
          <a:stretch>
            <a:fillRect/>
          </a:stretch>
        </p:blipFill>
        <p:spPr>
          <a:xfrm>
            <a:off x="7222235" y="3115055"/>
            <a:ext cx="1725168" cy="434339"/>
          </a:xfrm>
          <a:prstGeom prst="rect">
            <a:avLst/>
          </a:prstGeom>
        </p:spPr>
      </p:pic>
      <p:pic>
        <p:nvPicPr>
          <p:cNvPr id="22" name="bg object 22"/>
          <p:cNvPicPr/>
          <p:nvPr/>
        </p:nvPicPr>
        <p:blipFill>
          <a:blip r:embed="rId8" cstate="print"/>
          <a:stretch>
            <a:fillRect/>
          </a:stretch>
        </p:blipFill>
        <p:spPr>
          <a:xfrm>
            <a:off x="9541764" y="3115055"/>
            <a:ext cx="1725168" cy="434339"/>
          </a:xfrm>
          <a:prstGeom prst="rect">
            <a:avLst/>
          </a:prstGeom>
        </p:spPr>
      </p:pic>
      <p:pic>
        <p:nvPicPr>
          <p:cNvPr id="23" name="bg object 23"/>
          <p:cNvPicPr/>
          <p:nvPr/>
        </p:nvPicPr>
        <p:blipFill>
          <a:blip r:embed="rId10" cstate="print"/>
          <a:stretch>
            <a:fillRect/>
          </a:stretch>
        </p:blipFill>
        <p:spPr>
          <a:xfrm>
            <a:off x="0" y="0"/>
            <a:ext cx="2007108" cy="2176272"/>
          </a:xfrm>
          <a:prstGeom prst="rect">
            <a:avLst/>
          </a:prstGeom>
        </p:spPr>
      </p:pic>
      <p:sp>
        <p:nvSpPr>
          <p:cNvPr id="2" name="Holder 2"/>
          <p:cNvSpPr>
            <a:spLocks noGrp="1"/>
          </p:cNvSpPr>
          <p:nvPr>
            <p:ph type="title"/>
          </p:nvPr>
        </p:nvSpPr>
        <p:spPr>
          <a:xfrm>
            <a:off x="904443" y="720928"/>
            <a:ext cx="10383113" cy="882192"/>
          </a:xfrm>
          <a:prstGeom prst="rect">
            <a:avLst/>
          </a:prstGeom>
        </p:spPr>
        <p:txBody>
          <a:bodyPr wrap="square" lIns="0" tIns="0" rIns="0" bIns="0">
            <a:spAutoFit/>
          </a:bodyPr>
          <a:lstStyle>
            <a:lvl1pPr>
              <a:defRPr sz="2800" b="1" i="0">
                <a:solidFill>
                  <a:srgbClr val="3A7C22"/>
                </a:solidFill>
                <a:latin typeface="Calibri"/>
                <a:cs typeface="Calibri"/>
              </a:defRPr>
            </a:lvl1pPr>
          </a:lstStyle>
          <a:p>
            <a:endParaRPr/>
          </a:p>
        </p:txBody>
      </p:sp>
      <p:sp>
        <p:nvSpPr>
          <p:cNvPr id="3" name="Holder 3"/>
          <p:cNvSpPr>
            <a:spLocks noGrp="1"/>
          </p:cNvSpPr>
          <p:nvPr>
            <p:ph type="body" idx="1"/>
          </p:nvPr>
        </p:nvSpPr>
        <p:spPr>
          <a:xfrm>
            <a:off x="916635" y="1692529"/>
            <a:ext cx="10907395" cy="3210560"/>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219200" y="2590800"/>
            <a:ext cx="9677400" cy="844462"/>
          </a:xfrm>
          <a:prstGeom prst="rect">
            <a:avLst/>
          </a:prstGeom>
        </p:spPr>
        <p:txBody>
          <a:bodyPr vert="horz" wrap="square" lIns="0" tIns="13335" rIns="0" bIns="0" rtlCol="0">
            <a:spAutoFit/>
          </a:bodyPr>
          <a:lstStyle/>
          <a:p>
            <a:pPr marL="12700" algn="ctr">
              <a:lnSpc>
                <a:spcPct val="100000"/>
              </a:lnSpc>
              <a:spcBef>
                <a:spcPts val="105"/>
              </a:spcBef>
            </a:pPr>
            <a:r>
              <a:rPr lang="en-US" sz="5400" dirty="0"/>
              <a:t>AI and ML  in Cybersecurity</a:t>
            </a:r>
            <a:endParaRPr sz="5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242BF2-CF92-7930-FC12-AB2F61E6B820}"/>
              </a:ext>
            </a:extLst>
          </p:cNvPr>
          <p:cNvSpPr txBox="1"/>
          <p:nvPr/>
        </p:nvSpPr>
        <p:spPr>
          <a:xfrm>
            <a:off x="685800" y="1066800"/>
            <a:ext cx="10363200" cy="4893647"/>
          </a:xfrm>
          <a:prstGeom prst="rect">
            <a:avLst/>
          </a:prstGeom>
          <a:noFill/>
        </p:spPr>
        <p:txBody>
          <a:bodyPr wrap="square">
            <a:spAutoFit/>
          </a:bodyPr>
          <a:lstStyle/>
          <a:p>
            <a:pPr rtl="0"/>
            <a:r>
              <a:rPr lang="en-US" sz="1800" b="1" u="sng" dirty="0"/>
              <a:t>Basics of Python programming</a:t>
            </a:r>
            <a:r>
              <a:rPr lang="en-US" sz="1800" b="1" dirty="0"/>
              <a:t>:</a:t>
            </a:r>
          </a:p>
          <a:p>
            <a:pPr rtl="0"/>
            <a:endParaRPr lang="en-US" sz="2400" b="0" dirty="0">
              <a:effectLst/>
            </a:endParaRPr>
          </a:p>
          <a:p>
            <a:pPr rtl="0" fontAlgn="base"/>
            <a:r>
              <a:rPr lang="en-US" sz="1800" b="1" dirty="0"/>
              <a:t>Variables:</a:t>
            </a:r>
            <a:r>
              <a:rPr lang="en-US" sz="1800" dirty="0"/>
              <a:t> In Python, variables are used to store data values. They are created when you assign a value to them using the assignment operator (=). Variables can store different types of data, such as integers, floating-point numbers, strings, lists, dictionaries, etc.</a:t>
            </a:r>
          </a:p>
          <a:p>
            <a:pPr rtl="0" fontAlgn="base"/>
            <a:endParaRPr lang="en-US" sz="1800" b="1" dirty="0"/>
          </a:p>
          <a:p>
            <a:pPr rtl="0" fontAlgn="base"/>
            <a:r>
              <a:rPr lang="en-US" sz="1800" b="1" dirty="0"/>
              <a:t>Data Types:</a:t>
            </a:r>
            <a:r>
              <a:rPr lang="en-US" sz="1800" dirty="0"/>
              <a:t> Python supports various data types, including integers, floats, strings, lists, tuples, sets, dictionaries, and more. Each data type has its own set of operations and methods for manipulation.</a:t>
            </a:r>
          </a:p>
          <a:p>
            <a:pPr rtl="0" fontAlgn="base"/>
            <a:endParaRPr lang="en-US" sz="1800" b="1" dirty="0"/>
          </a:p>
          <a:p>
            <a:pPr rtl="0" fontAlgn="base"/>
            <a:r>
              <a:rPr lang="en-US" sz="1800" b="1" dirty="0"/>
              <a:t>Operators:</a:t>
            </a:r>
            <a:r>
              <a:rPr lang="en-US" sz="1800" dirty="0"/>
              <a:t> Python provides a variety of operators for performing operations on variables and values. These include arithmetic operators (+, -, *, /), comparison operators (==, !=, &lt;, &gt;), logical operators (and, or, not), and more.</a:t>
            </a:r>
          </a:p>
          <a:p>
            <a:pPr rtl="0" fontAlgn="base"/>
            <a:endParaRPr lang="en-US" sz="1800" b="1" dirty="0"/>
          </a:p>
          <a:p>
            <a:r>
              <a:rPr lang="en-US" sz="1800" b="1" dirty="0"/>
              <a:t>Control Structures:</a:t>
            </a:r>
            <a:r>
              <a:rPr lang="en-US" sz="1800" dirty="0"/>
              <a:t> Control structures in Python allow you to control the flow of execution in a program. This includes conditional statements (if, </a:t>
            </a:r>
            <a:r>
              <a:rPr lang="en-US" sz="1800" dirty="0" err="1"/>
              <a:t>elif</a:t>
            </a:r>
            <a:r>
              <a:rPr lang="en-US" sz="1800" dirty="0"/>
              <a:t>, else) for decision-making, loops (for, while) for iterating over sequences or performing repetitive tasks, and control flow statements (break, continue) for altering the flow of execution.</a:t>
            </a:r>
            <a:endParaRPr lang="en-IN" sz="2400" dirty="0">
              <a:latin typeface="+mn-lt"/>
            </a:endParaRPr>
          </a:p>
        </p:txBody>
      </p:sp>
    </p:spTree>
    <p:extLst>
      <p:ext uri="{BB962C8B-B14F-4D97-AF65-F5344CB8AC3E}">
        <p14:creationId xmlns:p14="http://schemas.microsoft.com/office/powerpoint/2010/main" val="2655455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7DC53-CD34-4E85-B485-7E132094C18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836936B-F773-DCE7-740F-1F2AD71C6D00}"/>
              </a:ext>
            </a:extLst>
          </p:cNvPr>
          <p:cNvSpPr txBox="1"/>
          <p:nvPr/>
        </p:nvSpPr>
        <p:spPr>
          <a:xfrm>
            <a:off x="685800" y="1066800"/>
            <a:ext cx="10363200" cy="4893647"/>
          </a:xfrm>
          <a:prstGeom prst="rect">
            <a:avLst/>
          </a:prstGeom>
          <a:noFill/>
        </p:spPr>
        <p:txBody>
          <a:bodyPr wrap="square">
            <a:spAutoFit/>
          </a:bodyPr>
          <a:lstStyle/>
          <a:p>
            <a:pPr rtl="0"/>
            <a:r>
              <a:rPr lang="en-US" sz="1800" b="1" u="sng" dirty="0"/>
              <a:t>Python Libraries:</a:t>
            </a:r>
          </a:p>
          <a:p>
            <a:pPr rtl="0"/>
            <a:endParaRPr lang="en-US" b="0" dirty="0">
              <a:effectLst/>
            </a:endParaRPr>
          </a:p>
          <a:p>
            <a:pPr rtl="0"/>
            <a:r>
              <a:rPr lang="en-US" sz="1800" b="1" u="sng" dirty="0" err="1"/>
              <a:t>Numpy</a:t>
            </a:r>
            <a:endParaRPr lang="en-US" sz="1800" b="1" u="sng" dirty="0"/>
          </a:p>
          <a:p>
            <a:pPr rtl="0"/>
            <a:endParaRPr lang="en-US" b="0" dirty="0">
              <a:effectLst/>
            </a:endParaRPr>
          </a:p>
          <a:p>
            <a:pPr rtl="0" fontAlgn="base"/>
            <a:r>
              <a:rPr lang="en-US" sz="1800" dirty="0"/>
              <a:t>NumPy is a fundamental package for scientific computing in Python. It provides support for multidimensional arrays, mathematical functions, linear algebra operations, random number generation, and more.</a:t>
            </a:r>
            <a:endParaRPr lang="en-US" sz="3200" dirty="0"/>
          </a:p>
          <a:p>
            <a:pPr rtl="0" fontAlgn="base"/>
            <a:r>
              <a:rPr lang="en-US" sz="1800" dirty="0"/>
              <a:t>Key features include:</a:t>
            </a:r>
            <a:endParaRPr lang="en-US" sz="3200" dirty="0"/>
          </a:p>
          <a:p>
            <a:pPr lvl="1" rtl="0" fontAlgn="base"/>
            <a:r>
              <a:rPr lang="en-US" sz="1800" dirty="0"/>
              <a:t>Arrays: NumPy arrays are the core data structure for representing and manipulating data. They are similar to Python lists but more efficient for numerical computations.</a:t>
            </a:r>
            <a:endParaRPr lang="en-US" sz="3200" dirty="0"/>
          </a:p>
          <a:p>
            <a:pPr lvl="1" rtl="0" fontAlgn="base"/>
            <a:r>
              <a:rPr lang="en-US" sz="1800" dirty="0"/>
              <a:t>Mathematical Functions: NumPy provides a wide range of mathematical functions for performing operations on arrays, such as arithmetic operations, trigonometric functions, exponential functions, etc.</a:t>
            </a:r>
            <a:endParaRPr lang="en-US" sz="3200" dirty="0"/>
          </a:p>
          <a:p>
            <a:pPr lvl="1" rtl="0" fontAlgn="base"/>
            <a:r>
              <a:rPr lang="en-US" sz="1800" dirty="0"/>
              <a:t>Linear Algebra: NumPy includes functions for performing linear algebra operations, such as matrix multiplication, matrix inversion, eigenvalue decomposition, and singular value decomposition.</a:t>
            </a:r>
            <a:endParaRPr lang="en-US" sz="3200" dirty="0"/>
          </a:p>
          <a:p>
            <a:br>
              <a:rPr lang="en-US" b="0" dirty="0">
                <a:effectLst/>
              </a:rPr>
            </a:br>
            <a:endParaRPr lang="en-IN" sz="2400" dirty="0">
              <a:latin typeface="+mn-lt"/>
            </a:endParaRPr>
          </a:p>
        </p:txBody>
      </p:sp>
    </p:spTree>
    <p:extLst>
      <p:ext uri="{BB962C8B-B14F-4D97-AF65-F5344CB8AC3E}">
        <p14:creationId xmlns:p14="http://schemas.microsoft.com/office/powerpoint/2010/main" val="2002226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24892-09C7-589D-06D3-0D9755A1727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CF7BC2-7572-4267-854D-0F6F943F179A}"/>
              </a:ext>
            </a:extLst>
          </p:cNvPr>
          <p:cNvSpPr txBox="1"/>
          <p:nvPr/>
        </p:nvSpPr>
        <p:spPr>
          <a:xfrm>
            <a:off x="685800" y="1066800"/>
            <a:ext cx="10363200" cy="1846659"/>
          </a:xfrm>
          <a:prstGeom prst="rect">
            <a:avLst/>
          </a:prstGeom>
          <a:noFill/>
        </p:spPr>
        <p:txBody>
          <a:bodyPr wrap="square">
            <a:spAutoFit/>
          </a:bodyPr>
          <a:lstStyle/>
          <a:p>
            <a:pPr rtl="0"/>
            <a:r>
              <a:rPr lang="en-US" sz="1800" b="1" u="sng" dirty="0"/>
              <a:t>Creating Arrays</a:t>
            </a:r>
            <a:r>
              <a:rPr lang="en-US" sz="1800" b="1" dirty="0"/>
              <a:t> :</a:t>
            </a:r>
          </a:p>
          <a:p>
            <a:pPr rtl="0"/>
            <a:endParaRPr lang="en-US" b="0" dirty="0">
              <a:effectLst/>
            </a:endParaRPr>
          </a:p>
          <a:p>
            <a:pPr rtl="0"/>
            <a:r>
              <a:rPr lang="en-US" sz="1800" dirty="0" err="1"/>
              <a:t>np.array</a:t>
            </a:r>
            <a:r>
              <a:rPr lang="en-US" sz="1800" dirty="0"/>
              <a:t>(): Create a </a:t>
            </a:r>
            <a:r>
              <a:rPr lang="en-US" sz="1800" dirty="0" err="1"/>
              <a:t>Numpy</a:t>
            </a:r>
            <a:r>
              <a:rPr lang="en-US" sz="1800" dirty="0"/>
              <a:t> array from a Python list or tuple</a:t>
            </a:r>
            <a:endParaRPr lang="en-US" b="0" dirty="0">
              <a:effectLst/>
            </a:endParaRPr>
          </a:p>
          <a:p>
            <a:br>
              <a:rPr lang="en-US" dirty="0"/>
            </a:br>
            <a:br>
              <a:rPr lang="en-US" b="0" dirty="0">
                <a:effectLst/>
              </a:rPr>
            </a:br>
            <a:endParaRPr lang="en-IN" sz="2400" dirty="0">
              <a:latin typeface="+mn-lt"/>
            </a:endParaRPr>
          </a:p>
        </p:txBody>
      </p:sp>
      <p:pic>
        <p:nvPicPr>
          <p:cNvPr id="1026" name="Picture 2">
            <a:extLst>
              <a:ext uri="{FF2B5EF4-FFF2-40B4-BE49-F238E27FC236}">
                <a16:creationId xmlns:a16="http://schemas.microsoft.com/office/drawing/2014/main" id="{01B0C57F-0F19-3075-C1DB-792A1B3D89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3200400"/>
            <a:ext cx="8382000" cy="220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46387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2173B-B265-1B3C-545E-7CFFFB2EDBB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3E77BA6-ABB2-22CD-0DC3-73D0AEE6A6A6}"/>
              </a:ext>
            </a:extLst>
          </p:cNvPr>
          <p:cNvSpPr txBox="1"/>
          <p:nvPr/>
        </p:nvSpPr>
        <p:spPr>
          <a:xfrm>
            <a:off x="1371600" y="1219200"/>
            <a:ext cx="10363200" cy="369332"/>
          </a:xfrm>
          <a:prstGeom prst="rect">
            <a:avLst/>
          </a:prstGeom>
          <a:noFill/>
        </p:spPr>
        <p:txBody>
          <a:bodyPr wrap="square">
            <a:spAutoFit/>
          </a:bodyPr>
          <a:lstStyle/>
          <a:p>
            <a:pPr rtl="0"/>
            <a:r>
              <a:rPr lang="en-US" sz="1800" dirty="0" err="1"/>
              <a:t>np.arange</a:t>
            </a:r>
            <a:r>
              <a:rPr lang="en-US" sz="1800" dirty="0"/>
              <a:t>():Create an array with evenly spaced values within a specified range.</a:t>
            </a:r>
            <a:endParaRPr lang="en-IN" sz="2400" dirty="0">
              <a:latin typeface="+mn-lt"/>
            </a:endParaRPr>
          </a:p>
        </p:txBody>
      </p:sp>
      <p:pic>
        <p:nvPicPr>
          <p:cNvPr id="2050" name="Picture 2">
            <a:extLst>
              <a:ext uri="{FF2B5EF4-FFF2-40B4-BE49-F238E27FC236}">
                <a16:creationId xmlns:a16="http://schemas.microsoft.com/office/drawing/2014/main" id="{32AF22A1-8A81-98E2-38DC-1C267A2A4A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971800"/>
            <a:ext cx="7239000" cy="1885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4224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D33C8-7F85-F116-D818-2CD2B198A40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94CCF7B-AC5B-CC3D-15DB-6E7CAB58ED5A}"/>
              </a:ext>
            </a:extLst>
          </p:cNvPr>
          <p:cNvSpPr txBox="1"/>
          <p:nvPr/>
        </p:nvSpPr>
        <p:spPr>
          <a:xfrm>
            <a:off x="1219200" y="1600200"/>
            <a:ext cx="10363200" cy="1384995"/>
          </a:xfrm>
          <a:prstGeom prst="rect">
            <a:avLst/>
          </a:prstGeom>
          <a:noFill/>
        </p:spPr>
        <p:txBody>
          <a:bodyPr wrap="square">
            <a:spAutoFit/>
          </a:bodyPr>
          <a:lstStyle/>
          <a:p>
            <a:pPr rtl="0"/>
            <a:r>
              <a:rPr lang="en-US" sz="1800" b="1" u="sng" dirty="0"/>
              <a:t>Array Manipulation </a:t>
            </a:r>
            <a:r>
              <a:rPr lang="en-US" sz="1800" b="1" dirty="0"/>
              <a:t>:</a:t>
            </a:r>
            <a:endParaRPr lang="en-US" sz="2400" b="0" dirty="0">
              <a:effectLst/>
            </a:endParaRPr>
          </a:p>
          <a:p>
            <a:pPr rtl="0"/>
            <a:r>
              <a:rPr lang="en-US" sz="1800" dirty="0" err="1"/>
              <a:t>np.reshape</a:t>
            </a:r>
            <a:r>
              <a:rPr lang="en-US" sz="1800" dirty="0"/>
              <a:t>() : Reshape an array into a new shape.</a:t>
            </a:r>
            <a:endParaRPr lang="en-US" sz="2400" b="0" dirty="0">
              <a:effectLst/>
            </a:endParaRPr>
          </a:p>
          <a:p>
            <a:br>
              <a:rPr lang="en-US" sz="2400" dirty="0"/>
            </a:br>
            <a:endParaRPr lang="en-IN" sz="2400" dirty="0">
              <a:latin typeface="+mn-lt"/>
            </a:endParaRPr>
          </a:p>
        </p:txBody>
      </p:sp>
      <p:pic>
        <p:nvPicPr>
          <p:cNvPr id="3074" name="Picture 2">
            <a:extLst>
              <a:ext uri="{FF2B5EF4-FFF2-40B4-BE49-F238E27FC236}">
                <a16:creationId xmlns:a16="http://schemas.microsoft.com/office/drawing/2014/main" id="{9BFCB2BC-17D9-715D-5957-1AFFD4A06A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3276600"/>
            <a:ext cx="6248400" cy="2695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8020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73B732-0B41-B7D2-A29B-F8D58382D4BD}"/>
              </a:ext>
            </a:extLst>
          </p:cNvPr>
          <p:cNvSpPr txBox="1"/>
          <p:nvPr/>
        </p:nvSpPr>
        <p:spPr>
          <a:xfrm>
            <a:off x="2057400" y="685800"/>
            <a:ext cx="6096000" cy="1554272"/>
          </a:xfrm>
          <a:prstGeom prst="rect">
            <a:avLst/>
          </a:prstGeom>
          <a:noFill/>
        </p:spPr>
        <p:txBody>
          <a:bodyPr wrap="square">
            <a:spAutoFit/>
          </a:bodyPr>
          <a:lstStyle/>
          <a:p>
            <a:pPr>
              <a:buNone/>
            </a:pPr>
            <a:br>
              <a:rPr lang="en-US" b="0" dirty="0">
                <a:effectLst/>
              </a:rPr>
            </a:br>
            <a:endParaRPr lang="en-US" b="0" dirty="0">
              <a:effectLst/>
            </a:endParaRPr>
          </a:p>
          <a:p>
            <a:pPr marL="101600" algn="just" rtl="0">
              <a:spcBef>
                <a:spcPts val="600"/>
              </a:spcBef>
              <a:buNone/>
            </a:pPr>
            <a:r>
              <a:rPr lang="en-US" sz="1800" b="0" i="0" u="none" strike="noStrike" dirty="0" err="1">
                <a:solidFill>
                  <a:srgbClr val="000000"/>
                </a:solidFill>
                <a:effectLst/>
                <a:latin typeface="Calibri" panose="020F0502020204030204" pitchFamily="34" charset="0"/>
              </a:rPr>
              <a:t>np.transpose</a:t>
            </a:r>
            <a:r>
              <a:rPr lang="en-US" sz="1800" b="0" i="0" u="none" strike="noStrike" dirty="0">
                <a:solidFill>
                  <a:srgbClr val="000000"/>
                </a:solidFill>
                <a:effectLst/>
                <a:latin typeface="Calibri" panose="020F0502020204030204" pitchFamily="34" charset="0"/>
              </a:rPr>
              <a:t>() :Transpose the rows and columns of an array</a:t>
            </a:r>
            <a:endParaRPr lang="en-US" b="0" dirty="0">
              <a:effectLst/>
            </a:endParaRPr>
          </a:p>
          <a:p>
            <a:pPr>
              <a:buNone/>
            </a:pPr>
            <a:br>
              <a:rPr lang="en-US" dirty="0"/>
            </a:br>
            <a:endParaRPr lang="en-IN" dirty="0"/>
          </a:p>
        </p:txBody>
      </p:sp>
      <p:pic>
        <p:nvPicPr>
          <p:cNvPr id="4098" name="Picture 2">
            <a:extLst>
              <a:ext uri="{FF2B5EF4-FFF2-40B4-BE49-F238E27FC236}">
                <a16:creationId xmlns:a16="http://schemas.microsoft.com/office/drawing/2014/main" id="{B9F16E09-5C06-F354-FDE4-2B5857659E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2667000"/>
            <a:ext cx="5267325" cy="2886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403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DEC64-223D-6076-44D6-B33672FD53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E26F6DB-17BF-2500-1D30-214050DBCA70}"/>
              </a:ext>
            </a:extLst>
          </p:cNvPr>
          <p:cNvSpPr txBox="1"/>
          <p:nvPr/>
        </p:nvSpPr>
        <p:spPr>
          <a:xfrm>
            <a:off x="914400" y="2057400"/>
            <a:ext cx="10363200" cy="3231654"/>
          </a:xfrm>
          <a:prstGeom prst="rect">
            <a:avLst/>
          </a:prstGeom>
          <a:noFill/>
        </p:spPr>
        <p:txBody>
          <a:bodyPr wrap="square">
            <a:spAutoFit/>
          </a:bodyPr>
          <a:lstStyle/>
          <a:p>
            <a:pPr rtl="0"/>
            <a:r>
              <a:rPr lang="en-US" sz="1800" dirty="0"/>
              <a:t>Pandas is a powerful Python library widely used for data manipulation and analysis. It provides data structures and functions to efficiently work with structured data, such as tabular data, time series, and more. Here's an introduction to pandas and some of its important functions:</a:t>
            </a:r>
            <a:endParaRPr lang="en-US" b="0" dirty="0">
              <a:effectLst/>
            </a:endParaRPr>
          </a:p>
          <a:p>
            <a:br>
              <a:rPr lang="en-US" b="0" dirty="0">
                <a:effectLst/>
              </a:rPr>
            </a:br>
            <a:endParaRPr lang="en-US" b="0" dirty="0">
              <a:effectLst/>
            </a:endParaRPr>
          </a:p>
          <a:p>
            <a:pPr rtl="0"/>
            <a:r>
              <a:rPr lang="en-US" sz="1800" b="1" u="sng" dirty="0"/>
              <a:t>Data Structures:</a:t>
            </a:r>
            <a:endParaRPr lang="en-US" b="0" dirty="0">
              <a:effectLst/>
            </a:endParaRPr>
          </a:p>
          <a:p>
            <a:pPr rtl="0" fontAlgn="base"/>
            <a:r>
              <a:rPr lang="en-US" sz="1800" b="1" dirty="0"/>
              <a:t>Data Frame:</a:t>
            </a:r>
            <a:r>
              <a:rPr lang="en-US" sz="1800" dirty="0"/>
              <a:t> A two-dimensional labeled data structure with columns of potentially different types, similar to a spreadsheet or SQL table.</a:t>
            </a:r>
            <a:endParaRPr lang="en-US" sz="1800" b="1" dirty="0"/>
          </a:p>
          <a:p>
            <a:pPr rtl="0" fontAlgn="base"/>
            <a:r>
              <a:rPr lang="en-US" sz="1800" b="1" dirty="0"/>
              <a:t>Series:</a:t>
            </a:r>
            <a:r>
              <a:rPr lang="en-US" sz="1800" dirty="0"/>
              <a:t> A one-dimensional labeled array capable of holding any data type.</a:t>
            </a:r>
            <a:endParaRPr lang="en-US" sz="1800" b="1" dirty="0"/>
          </a:p>
          <a:p>
            <a:br>
              <a:rPr lang="en-US" b="0" dirty="0">
                <a:effectLst/>
              </a:rPr>
            </a:br>
            <a:endParaRPr lang="en-IN" sz="2400" dirty="0">
              <a:latin typeface="+mn-lt"/>
            </a:endParaRPr>
          </a:p>
        </p:txBody>
      </p:sp>
    </p:spTree>
    <p:extLst>
      <p:ext uri="{BB962C8B-B14F-4D97-AF65-F5344CB8AC3E}">
        <p14:creationId xmlns:p14="http://schemas.microsoft.com/office/powerpoint/2010/main" val="2963302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3486F-CB3B-1C58-D0B8-855615668F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6F6F890-D799-4256-6650-24AC6D1FB926}"/>
              </a:ext>
            </a:extLst>
          </p:cNvPr>
          <p:cNvSpPr txBox="1"/>
          <p:nvPr/>
        </p:nvSpPr>
        <p:spPr>
          <a:xfrm>
            <a:off x="914400" y="2057400"/>
            <a:ext cx="10363200" cy="3785652"/>
          </a:xfrm>
          <a:prstGeom prst="rect">
            <a:avLst/>
          </a:prstGeom>
          <a:noFill/>
        </p:spPr>
        <p:txBody>
          <a:bodyPr wrap="square">
            <a:spAutoFit/>
          </a:bodyPr>
          <a:lstStyle/>
          <a:p>
            <a:pPr rtl="0"/>
            <a:r>
              <a:rPr lang="en-US" sz="1800" b="1" u="sng" dirty="0"/>
              <a:t>Key Functions:</a:t>
            </a:r>
            <a:endParaRPr lang="en-US" b="0" dirty="0">
              <a:effectLst/>
            </a:endParaRPr>
          </a:p>
          <a:p>
            <a:pPr rtl="0"/>
            <a:r>
              <a:rPr lang="en-US" sz="1800" u="sng" dirty="0"/>
              <a:t>Reading and Writing Data:</a:t>
            </a:r>
            <a:endParaRPr lang="en-US" b="0" dirty="0">
              <a:effectLst/>
            </a:endParaRPr>
          </a:p>
          <a:p>
            <a:pPr rtl="0"/>
            <a:r>
              <a:rPr lang="en-US" sz="1800" dirty="0" err="1"/>
              <a:t>pd.read_csv</a:t>
            </a:r>
            <a:r>
              <a:rPr lang="en-US" sz="1800" dirty="0"/>
              <a:t>(): Read data from a CSV file into a </a:t>
            </a:r>
            <a:r>
              <a:rPr lang="en-US" sz="1800" dirty="0" err="1"/>
              <a:t>DataFrame</a:t>
            </a:r>
            <a:r>
              <a:rPr lang="en-US" sz="1800" dirty="0"/>
              <a:t>.</a:t>
            </a:r>
            <a:endParaRPr lang="en-US" b="0" dirty="0">
              <a:effectLst/>
            </a:endParaRPr>
          </a:p>
          <a:p>
            <a:pPr rtl="0"/>
            <a:r>
              <a:rPr lang="en-US" sz="1800" dirty="0" err="1"/>
              <a:t>pd.read_excel</a:t>
            </a:r>
            <a:r>
              <a:rPr lang="en-US" sz="1800" dirty="0"/>
              <a:t>(): Read data from an Excel file into a </a:t>
            </a:r>
            <a:r>
              <a:rPr lang="en-US" sz="1800" dirty="0" err="1"/>
              <a:t>DataFrame</a:t>
            </a:r>
            <a:r>
              <a:rPr lang="en-US" sz="1800" dirty="0"/>
              <a:t>.</a:t>
            </a:r>
            <a:endParaRPr lang="en-US" b="0" dirty="0">
              <a:effectLst/>
            </a:endParaRPr>
          </a:p>
          <a:p>
            <a:pPr rtl="0"/>
            <a:r>
              <a:rPr lang="en-US" sz="1800" dirty="0" err="1"/>
              <a:t>pd.to_csv</a:t>
            </a:r>
            <a:r>
              <a:rPr lang="en-US" sz="1800" dirty="0"/>
              <a:t>(): Write data from a </a:t>
            </a:r>
            <a:r>
              <a:rPr lang="en-US" sz="1800" dirty="0" err="1"/>
              <a:t>DataFrame</a:t>
            </a:r>
            <a:r>
              <a:rPr lang="en-US" sz="1800" dirty="0"/>
              <a:t> to a CSV file.</a:t>
            </a:r>
            <a:endParaRPr lang="en-US" b="0" dirty="0">
              <a:effectLst/>
            </a:endParaRPr>
          </a:p>
          <a:p>
            <a:pPr rtl="0"/>
            <a:r>
              <a:rPr lang="en-US" sz="1800" dirty="0" err="1"/>
              <a:t>pd.to_excel</a:t>
            </a:r>
            <a:r>
              <a:rPr lang="en-US" sz="1800" dirty="0"/>
              <a:t>(): Write data from a </a:t>
            </a:r>
            <a:r>
              <a:rPr lang="en-US" sz="1800" dirty="0" err="1"/>
              <a:t>DataFrame</a:t>
            </a:r>
            <a:r>
              <a:rPr lang="en-US" sz="1800" dirty="0"/>
              <a:t> to an Excel file.</a:t>
            </a:r>
            <a:endParaRPr lang="en-US" b="0" dirty="0">
              <a:effectLst/>
            </a:endParaRPr>
          </a:p>
          <a:p>
            <a:pPr rtl="0"/>
            <a:r>
              <a:rPr lang="en-US" sz="1800" u="sng" dirty="0"/>
              <a:t>Data Exploration:</a:t>
            </a:r>
            <a:endParaRPr lang="en-US" b="0" dirty="0">
              <a:effectLst/>
            </a:endParaRPr>
          </a:p>
          <a:p>
            <a:pPr rtl="0"/>
            <a:r>
              <a:rPr lang="en-US" sz="1800" dirty="0" err="1"/>
              <a:t>df.head</a:t>
            </a:r>
            <a:r>
              <a:rPr lang="en-US" sz="1800" dirty="0"/>
              <a:t>(), </a:t>
            </a:r>
            <a:r>
              <a:rPr lang="en-US" sz="1800" dirty="0" err="1"/>
              <a:t>df.tail</a:t>
            </a:r>
            <a:r>
              <a:rPr lang="en-US" sz="1800" dirty="0"/>
              <a:t>(): View the first or last few rows of a </a:t>
            </a:r>
            <a:r>
              <a:rPr lang="en-US" sz="1800" dirty="0" err="1"/>
              <a:t>DataFrame</a:t>
            </a:r>
            <a:r>
              <a:rPr lang="en-US" sz="1800" dirty="0"/>
              <a:t>.</a:t>
            </a:r>
            <a:endParaRPr lang="en-US" b="0" dirty="0">
              <a:effectLst/>
            </a:endParaRPr>
          </a:p>
          <a:p>
            <a:pPr rtl="0"/>
            <a:r>
              <a:rPr lang="en-US" sz="1800" dirty="0"/>
              <a:t>df.info(): Get a concise summary of a </a:t>
            </a:r>
            <a:r>
              <a:rPr lang="en-US" sz="1800" dirty="0" err="1"/>
              <a:t>DataFrame</a:t>
            </a:r>
            <a:r>
              <a:rPr lang="en-US" sz="1800" dirty="0"/>
              <a:t>, including data types and missing values.</a:t>
            </a:r>
            <a:endParaRPr lang="en-US" b="0" dirty="0">
              <a:effectLst/>
            </a:endParaRPr>
          </a:p>
          <a:p>
            <a:pPr rtl="0"/>
            <a:r>
              <a:rPr lang="en-US" sz="1800" dirty="0" err="1"/>
              <a:t>df.describe</a:t>
            </a:r>
            <a:r>
              <a:rPr lang="en-US" sz="1800" dirty="0"/>
              <a:t>(): Generate descriptive statistics summary of numerical columns in a </a:t>
            </a:r>
            <a:r>
              <a:rPr lang="en-US" sz="1800" dirty="0" err="1"/>
              <a:t>DataFrame</a:t>
            </a:r>
            <a:r>
              <a:rPr lang="en-US" sz="1800" dirty="0"/>
              <a:t>.</a:t>
            </a:r>
            <a:endParaRPr lang="en-US" b="0" dirty="0">
              <a:effectLst/>
            </a:endParaRPr>
          </a:p>
          <a:p>
            <a:br>
              <a:rPr lang="en-US" dirty="0"/>
            </a:br>
            <a:br>
              <a:rPr lang="en-US" b="0" dirty="0">
                <a:effectLst/>
              </a:rPr>
            </a:br>
            <a:endParaRPr lang="en-IN" sz="2400" dirty="0">
              <a:latin typeface="+mn-lt"/>
            </a:endParaRPr>
          </a:p>
        </p:txBody>
      </p:sp>
    </p:spTree>
    <p:extLst>
      <p:ext uri="{BB962C8B-B14F-4D97-AF65-F5344CB8AC3E}">
        <p14:creationId xmlns:p14="http://schemas.microsoft.com/office/powerpoint/2010/main" val="359805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F4403-E3B2-3CC8-3F14-B267D6791C1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F4DD55E-948C-D847-F044-6AEAD6F67196}"/>
              </a:ext>
            </a:extLst>
          </p:cNvPr>
          <p:cNvSpPr txBox="1"/>
          <p:nvPr/>
        </p:nvSpPr>
        <p:spPr>
          <a:xfrm>
            <a:off x="914400" y="2438400"/>
            <a:ext cx="10363200" cy="2585323"/>
          </a:xfrm>
          <a:prstGeom prst="rect">
            <a:avLst/>
          </a:prstGeom>
          <a:noFill/>
        </p:spPr>
        <p:txBody>
          <a:bodyPr wrap="square">
            <a:spAutoFit/>
          </a:bodyPr>
          <a:lstStyle/>
          <a:p>
            <a:pPr rtl="0"/>
            <a:r>
              <a:rPr lang="en-IN" sz="1800" b="1" u="sng" dirty="0"/>
              <a:t>  Data Manipulation:</a:t>
            </a:r>
            <a:endParaRPr lang="en-IN" b="0" dirty="0">
              <a:effectLst/>
            </a:endParaRPr>
          </a:p>
          <a:p>
            <a:pPr rtl="0" fontAlgn="base"/>
            <a:r>
              <a:rPr lang="en-IN" sz="1800" b="1" u="sng" dirty="0" err="1"/>
              <a:t>df.drop</a:t>
            </a:r>
            <a:r>
              <a:rPr lang="en-IN" sz="1800" b="1" u="sng" dirty="0"/>
              <a:t>()</a:t>
            </a:r>
            <a:r>
              <a:rPr lang="en-IN" sz="1800" u="sng" dirty="0"/>
              <a:t>: Remov</a:t>
            </a:r>
            <a:r>
              <a:rPr lang="en-IN" sz="1800" dirty="0"/>
              <a:t>e rows or columns from a </a:t>
            </a:r>
            <a:r>
              <a:rPr lang="en-IN" sz="1800" dirty="0" err="1"/>
              <a:t>DataFrame</a:t>
            </a:r>
            <a:r>
              <a:rPr lang="en-IN" sz="1800" dirty="0"/>
              <a:t>.</a:t>
            </a:r>
            <a:endParaRPr lang="en-IN" sz="1800" b="1" dirty="0"/>
          </a:p>
          <a:p>
            <a:pPr rtl="0" fontAlgn="base"/>
            <a:r>
              <a:rPr lang="en-IN" sz="1800" b="1" dirty="0" err="1"/>
              <a:t>df.rename</a:t>
            </a:r>
            <a:r>
              <a:rPr lang="en-IN" sz="1800" b="1" dirty="0"/>
              <a:t>()</a:t>
            </a:r>
            <a:r>
              <a:rPr lang="en-IN" sz="1800" dirty="0"/>
              <a:t>: Rename columns or index labels in a </a:t>
            </a:r>
            <a:r>
              <a:rPr lang="en-IN" sz="1800" dirty="0" err="1"/>
              <a:t>DataFrame</a:t>
            </a:r>
            <a:r>
              <a:rPr lang="en-IN" sz="1800" dirty="0"/>
              <a:t>.</a:t>
            </a:r>
            <a:endParaRPr lang="en-IN" sz="1800" b="1" dirty="0"/>
          </a:p>
          <a:p>
            <a:pPr rtl="0" fontAlgn="base"/>
            <a:r>
              <a:rPr lang="en-IN" sz="1800" b="1" dirty="0" err="1"/>
              <a:t>df.sort_values</a:t>
            </a:r>
            <a:r>
              <a:rPr lang="en-IN" sz="1800" b="1" dirty="0"/>
              <a:t>()</a:t>
            </a:r>
            <a:r>
              <a:rPr lang="en-IN" sz="1800" dirty="0"/>
              <a:t>: Sort rows of a </a:t>
            </a:r>
            <a:r>
              <a:rPr lang="en-IN" sz="1800" dirty="0" err="1"/>
              <a:t>DataFrame</a:t>
            </a:r>
            <a:r>
              <a:rPr lang="en-IN" sz="1800" dirty="0"/>
              <a:t> by one or more columns.</a:t>
            </a:r>
            <a:endParaRPr lang="en-IN" sz="1800" b="1" dirty="0"/>
          </a:p>
          <a:p>
            <a:pPr rtl="0" fontAlgn="base"/>
            <a:r>
              <a:rPr lang="en-IN" sz="1800" b="1" dirty="0" err="1"/>
              <a:t>df.groupby</a:t>
            </a:r>
            <a:r>
              <a:rPr lang="en-IN" sz="1800" b="1" dirty="0"/>
              <a:t>()</a:t>
            </a:r>
            <a:r>
              <a:rPr lang="en-IN" sz="1800" dirty="0"/>
              <a:t>: Group rows of a </a:t>
            </a:r>
            <a:r>
              <a:rPr lang="en-IN" sz="1800" dirty="0" err="1"/>
              <a:t>DataFrame</a:t>
            </a:r>
            <a:r>
              <a:rPr lang="en-IN" sz="1800" dirty="0"/>
              <a:t> by one or more columns.</a:t>
            </a:r>
            <a:endParaRPr lang="en-IN" sz="1800" b="1" dirty="0"/>
          </a:p>
          <a:p>
            <a:pPr rtl="0"/>
            <a:r>
              <a:rPr lang="en-IN" sz="1800" b="1" u="sng" dirty="0"/>
              <a:t>Data Cleaning:</a:t>
            </a:r>
            <a:endParaRPr lang="en-IN" b="0" dirty="0">
              <a:effectLst/>
            </a:endParaRPr>
          </a:p>
          <a:p>
            <a:pPr rtl="0" fontAlgn="base"/>
            <a:r>
              <a:rPr lang="en-IN" sz="1800" b="1" dirty="0" err="1"/>
              <a:t>df.isnull</a:t>
            </a:r>
            <a:r>
              <a:rPr lang="en-IN" sz="1800" b="1" dirty="0"/>
              <a:t>()</a:t>
            </a:r>
            <a:r>
              <a:rPr lang="en-IN" sz="1800" dirty="0"/>
              <a:t>, </a:t>
            </a:r>
            <a:r>
              <a:rPr lang="en-IN" sz="1800" b="1" dirty="0" err="1"/>
              <a:t>df.notnull</a:t>
            </a:r>
            <a:r>
              <a:rPr lang="en-IN" sz="1800" b="1" dirty="0"/>
              <a:t>()</a:t>
            </a:r>
            <a:r>
              <a:rPr lang="en-IN" sz="1800" dirty="0"/>
              <a:t>: Check for missing values in a </a:t>
            </a:r>
            <a:r>
              <a:rPr lang="en-IN" sz="1800" dirty="0" err="1"/>
              <a:t>DataFrame</a:t>
            </a:r>
            <a:r>
              <a:rPr lang="en-IN" sz="1800" dirty="0"/>
              <a:t>.</a:t>
            </a:r>
            <a:endParaRPr lang="en-IN" sz="1800" b="1" dirty="0"/>
          </a:p>
          <a:p>
            <a:pPr rtl="0" fontAlgn="base"/>
            <a:r>
              <a:rPr lang="en-IN" sz="1800" b="1" dirty="0" err="1"/>
              <a:t>df.fillna</a:t>
            </a:r>
            <a:r>
              <a:rPr lang="en-IN" sz="1800" b="1" dirty="0"/>
              <a:t>()</a:t>
            </a:r>
            <a:r>
              <a:rPr lang="en-IN" sz="1800" dirty="0"/>
              <a:t>: Fill missing values with specified values or methods.</a:t>
            </a:r>
            <a:endParaRPr lang="en-IN" sz="1800" b="1" dirty="0"/>
          </a:p>
          <a:p>
            <a:r>
              <a:rPr lang="en-IN" sz="1800" b="1" dirty="0" err="1"/>
              <a:t>df.dropna</a:t>
            </a:r>
            <a:r>
              <a:rPr lang="en-IN" sz="1800" b="1" dirty="0"/>
              <a:t>()</a:t>
            </a:r>
            <a:r>
              <a:rPr lang="en-IN" sz="1800" dirty="0"/>
              <a:t>: Drop rows or columns with missing values from a </a:t>
            </a:r>
            <a:r>
              <a:rPr lang="en-IN" sz="1800" dirty="0" err="1"/>
              <a:t>DataFrame</a:t>
            </a:r>
            <a:r>
              <a:rPr lang="en-IN" sz="1800" dirty="0"/>
              <a:t>.</a:t>
            </a:r>
            <a:endParaRPr lang="en-IN" sz="2400" dirty="0">
              <a:latin typeface="+mn-lt"/>
            </a:endParaRPr>
          </a:p>
        </p:txBody>
      </p:sp>
    </p:spTree>
    <p:extLst>
      <p:ext uri="{BB962C8B-B14F-4D97-AF65-F5344CB8AC3E}">
        <p14:creationId xmlns:p14="http://schemas.microsoft.com/office/powerpoint/2010/main" val="2310926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FAB47D-A48C-05B6-EDF7-4BFF4F304051}"/>
              </a:ext>
            </a:extLst>
          </p:cNvPr>
          <p:cNvSpPr txBox="1"/>
          <p:nvPr/>
        </p:nvSpPr>
        <p:spPr>
          <a:xfrm>
            <a:off x="1066800" y="751344"/>
            <a:ext cx="9372600" cy="5355312"/>
          </a:xfrm>
          <a:prstGeom prst="rect">
            <a:avLst/>
          </a:prstGeom>
          <a:noFill/>
        </p:spPr>
        <p:txBody>
          <a:bodyPr wrap="square">
            <a:spAutoFit/>
          </a:bodyPr>
          <a:lstStyle/>
          <a:p>
            <a:pPr algn="just" rtl="0">
              <a:buNone/>
            </a:pPr>
            <a:r>
              <a:rPr lang="en-US" sz="1800" b="1" i="0" u="sng" dirty="0">
                <a:solidFill>
                  <a:srgbClr val="000000"/>
                </a:solidFill>
                <a:effectLst/>
                <a:latin typeface="Calibri" panose="020F0502020204030204" pitchFamily="34" charset="0"/>
              </a:rPr>
              <a:t>Matplotlib</a:t>
            </a:r>
            <a:r>
              <a:rPr lang="en-US" sz="1800" b="0" i="0" u="none" strike="noStrike" dirty="0">
                <a:solidFill>
                  <a:srgbClr val="000000"/>
                </a:solidFill>
                <a:effectLst/>
                <a:latin typeface="Calibri" panose="020F0502020204030204" pitchFamily="34" charset="0"/>
              </a:rPr>
              <a:t> is a popular Python library for creating static, interactive, and animated visualizations. It provides a wide range of tools for constructing plots, charts, and figures to convey insights from data effectively. Here's an introduction to Matplotlib and some of its important functions and use cases:</a:t>
            </a:r>
            <a:endParaRPr lang="en-US" b="0" dirty="0">
              <a:effectLst/>
            </a:endParaRPr>
          </a:p>
          <a:p>
            <a:pPr>
              <a:buNone/>
            </a:pPr>
            <a:br>
              <a:rPr lang="en-US" b="0" dirty="0">
                <a:effectLst/>
              </a:rPr>
            </a:br>
            <a:endParaRPr lang="en-US" b="0" dirty="0">
              <a:effectLst/>
            </a:endParaRPr>
          </a:p>
          <a:p>
            <a:pPr algn="just" rtl="0">
              <a:buNone/>
            </a:pPr>
            <a:r>
              <a:rPr lang="en-US" sz="1800" b="1" i="0" u="sng" dirty="0">
                <a:solidFill>
                  <a:srgbClr val="000000"/>
                </a:solidFill>
                <a:effectLst/>
                <a:latin typeface="Calibri" panose="020F0502020204030204" pitchFamily="34" charset="0"/>
              </a:rPr>
              <a:t>Overview of Matplotlib:</a:t>
            </a:r>
            <a:endParaRPr lang="en-US" b="0" dirty="0">
              <a:effectLst/>
            </a:endParaRPr>
          </a:p>
          <a:p>
            <a:pPr marL="317500" algn="just" rtl="0" fontAlgn="base">
              <a:buFont typeface="+mj-lt"/>
              <a:buAutoNum type="arabicPeriod"/>
            </a:pPr>
            <a:r>
              <a:rPr lang="en-US" sz="1800" b="0" i="0" u="none" strike="noStrike" dirty="0">
                <a:solidFill>
                  <a:srgbClr val="000000"/>
                </a:solidFill>
                <a:effectLst/>
                <a:latin typeface="Calibri" panose="020F0502020204030204" pitchFamily="34" charset="0"/>
              </a:rPr>
              <a:t>Matplotlib is a comprehensive library for creating high-quality visualizations in Python.</a:t>
            </a:r>
            <a:endParaRPr lang="en-US" sz="1800" b="0" i="0" u="none" strike="noStrike" dirty="0">
              <a:solidFill>
                <a:srgbClr val="000000"/>
              </a:solidFill>
              <a:effectLst/>
              <a:latin typeface="Arial" panose="020B0604020202020204" pitchFamily="34" charset="0"/>
            </a:endParaRPr>
          </a:p>
          <a:p>
            <a:pPr marL="317500" algn="just" rtl="0" fontAlgn="base">
              <a:buFont typeface="+mj-lt"/>
              <a:buAutoNum type="arabicPeriod"/>
            </a:pPr>
            <a:r>
              <a:rPr lang="en-US" sz="1800" b="0" i="0" u="none" strike="noStrike" dirty="0">
                <a:solidFill>
                  <a:srgbClr val="000000"/>
                </a:solidFill>
                <a:effectLst/>
                <a:latin typeface="Calibri" panose="020F0502020204030204" pitchFamily="34" charset="0"/>
              </a:rPr>
              <a:t>It offers a flexible and intuitive interface for generating a variety of plots, including line plots, scatter plots, bar plots, histograms, and more.</a:t>
            </a:r>
            <a:endParaRPr lang="en-US" sz="1800" b="0" i="0" u="none" strike="noStrike" dirty="0">
              <a:solidFill>
                <a:srgbClr val="000000"/>
              </a:solidFill>
              <a:effectLst/>
              <a:latin typeface="Arial" panose="020B0604020202020204" pitchFamily="34" charset="0"/>
            </a:endParaRPr>
          </a:p>
          <a:p>
            <a:pPr marL="317500" algn="just" rtl="0" fontAlgn="base">
              <a:buFont typeface="+mj-lt"/>
              <a:buAutoNum type="arabicPeriod"/>
            </a:pPr>
            <a:r>
              <a:rPr lang="en-US" sz="1800" b="0" i="0" u="none" strike="noStrike" dirty="0">
                <a:solidFill>
                  <a:srgbClr val="000000"/>
                </a:solidFill>
                <a:effectLst/>
                <a:latin typeface="Calibri" panose="020F0502020204030204" pitchFamily="34" charset="0"/>
              </a:rPr>
              <a:t>Matplotlib can be used standalone or in conjunction with other libraries like NumPy and Pandas to visualize data from various sources.</a:t>
            </a:r>
            <a:endParaRPr lang="en-US" sz="1800" b="0" i="0" u="none" strike="noStrike" dirty="0">
              <a:solidFill>
                <a:srgbClr val="000000"/>
              </a:solidFill>
              <a:effectLst/>
              <a:latin typeface="Arial" panose="020B0604020202020204" pitchFamily="34" charset="0"/>
            </a:endParaRPr>
          </a:p>
          <a:p>
            <a:pPr>
              <a:buNone/>
            </a:pPr>
            <a:br>
              <a:rPr lang="en-US" b="0" dirty="0">
                <a:effectLst/>
              </a:rPr>
            </a:br>
            <a:endParaRPr lang="en-US" b="0" dirty="0">
              <a:effectLst/>
            </a:endParaRPr>
          </a:p>
          <a:p>
            <a:pPr algn="just" rtl="0">
              <a:buNone/>
            </a:pPr>
            <a:r>
              <a:rPr lang="en-US" sz="1800" b="1" i="0" u="sng" dirty="0">
                <a:solidFill>
                  <a:srgbClr val="000000"/>
                </a:solidFill>
                <a:effectLst/>
                <a:latin typeface="Calibri" panose="020F0502020204030204" pitchFamily="34" charset="0"/>
              </a:rPr>
              <a:t>Key Functions in Matplotlib:</a:t>
            </a:r>
            <a:endParaRPr lang="en-US" b="0" dirty="0">
              <a:effectLst/>
            </a:endParaRPr>
          </a:p>
          <a:p>
            <a:pPr algn="just" rtl="0" fontAlgn="base">
              <a:buFont typeface="Arial" panose="020B0604020202020204" pitchFamily="34" charset="0"/>
              <a:buChar char="•"/>
            </a:pPr>
            <a:r>
              <a:rPr lang="en-US" sz="1800" b="1" i="0" u="none" strike="noStrike" dirty="0" err="1">
                <a:solidFill>
                  <a:srgbClr val="000000"/>
                </a:solidFill>
                <a:effectLst/>
                <a:latin typeface="Calibri" panose="020F0502020204030204" pitchFamily="34" charset="0"/>
              </a:rPr>
              <a:t>plt.plot</a:t>
            </a:r>
            <a:r>
              <a:rPr lang="en-US" sz="1800" b="1" i="0" u="none" strike="noStrike" dirty="0">
                <a:solidFill>
                  <a:srgbClr val="000000"/>
                </a:solidFill>
                <a:effectLst/>
                <a:latin typeface="Calibri" panose="020F0502020204030204" pitchFamily="34" charset="0"/>
              </a:rPr>
              <a:t>():</a:t>
            </a:r>
            <a:r>
              <a:rPr lang="en-US" sz="1800" b="0" i="0" u="none" strike="noStrike" dirty="0">
                <a:solidFill>
                  <a:srgbClr val="000000"/>
                </a:solidFill>
                <a:effectLst/>
                <a:latin typeface="Calibri" panose="020F0502020204030204" pitchFamily="34" charset="0"/>
              </a:rPr>
              <a:t> Create line plots, scatter plots, or combination plots.</a:t>
            </a:r>
            <a:endParaRPr lang="en-US" sz="1800" b="1" i="0" u="none" strike="noStrike" dirty="0">
              <a:solidFill>
                <a:srgbClr val="000000"/>
              </a:solidFill>
              <a:effectLst/>
              <a:latin typeface="Arial" panose="020B0604020202020204" pitchFamily="34" charset="0"/>
            </a:endParaRPr>
          </a:p>
          <a:p>
            <a:pPr algn="just" rtl="0" fontAlgn="base">
              <a:buFont typeface="Arial" panose="020B0604020202020204" pitchFamily="34" charset="0"/>
              <a:buChar char="•"/>
            </a:pPr>
            <a:r>
              <a:rPr lang="en-US" sz="1800" b="1" i="0" u="none" strike="noStrike" dirty="0" err="1">
                <a:solidFill>
                  <a:srgbClr val="000000"/>
                </a:solidFill>
                <a:effectLst/>
                <a:latin typeface="Calibri" panose="020F0502020204030204" pitchFamily="34" charset="0"/>
              </a:rPr>
              <a:t>plt.scatter</a:t>
            </a:r>
            <a:r>
              <a:rPr lang="en-US" sz="1800" b="1" i="0" u="none" strike="noStrike" dirty="0">
                <a:solidFill>
                  <a:srgbClr val="000000"/>
                </a:solidFill>
                <a:effectLst/>
                <a:latin typeface="Calibri" panose="020F0502020204030204" pitchFamily="34" charset="0"/>
              </a:rPr>
              <a:t>():</a:t>
            </a:r>
            <a:r>
              <a:rPr lang="en-US" sz="1800" b="0" i="0" u="none" strike="noStrike" dirty="0">
                <a:solidFill>
                  <a:srgbClr val="000000"/>
                </a:solidFill>
                <a:effectLst/>
                <a:latin typeface="Calibri" panose="020F0502020204030204" pitchFamily="34" charset="0"/>
              </a:rPr>
              <a:t> Generate scatter plots for visualizing relationships between variables.</a:t>
            </a:r>
            <a:endParaRPr lang="en-US" sz="1800" b="1" i="0" u="none" strike="noStrike" dirty="0">
              <a:solidFill>
                <a:srgbClr val="000000"/>
              </a:solidFill>
              <a:effectLst/>
              <a:latin typeface="Arial" panose="020B0604020202020204" pitchFamily="34" charset="0"/>
            </a:endParaRPr>
          </a:p>
          <a:p>
            <a:pPr algn="just" rtl="0" fontAlgn="base">
              <a:buFont typeface="Arial" panose="020B0604020202020204" pitchFamily="34" charset="0"/>
              <a:buChar char="•"/>
            </a:pPr>
            <a:r>
              <a:rPr lang="en-US" sz="1800" b="1" i="0" u="none" strike="noStrike" dirty="0" err="1">
                <a:solidFill>
                  <a:srgbClr val="000000"/>
                </a:solidFill>
                <a:effectLst/>
                <a:latin typeface="Calibri" panose="020F0502020204030204" pitchFamily="34" charset="0"/>
              </a:rPr>
              <a:t>plt.bar</a:t>
            </a:r>
            <a:r>
              <a:rPr lang="en-US" sz="1800" b="1" i="0" u="none" strike="noStrike" dirty="0">
                <a:solidFill>
                  <a:srgbClr val="000000"/>
                </a:solidFill>
                <a:effectLst/>
                <a:latin typeface="Calibri" panose="020F0502020204030204" pitchFamily="34" charset="0"/>
              </a:rPr>
              <a:t>():</a:t>
            </a:r>
            <a:r>
              <a:rPr lang="en-US" sz="1800" b="0" i="0" u="none" strike="noStrike" dirty="0">
                <a:solidFill>
                  <a:srgbClr val="000000"/>
                </a:solidFill>
                <a:effectLst/>
                <a:latin typeface="Calibri" panose="020F0502020204030204" pitchFamily="34" charset="0"/>
              </a:rPr>
              <a:t> Create bar charts for comparing categorical data.</a:t>
            </a:r>
            <a:endParaRPr lang="en-US" sz="1800" b="1" i="0" u="none" strike="noStrike" dirty="0">
              <a:solidFill>
                <a:srgbClr val="000000"/>
              </a:solidFill>
              <a:effectLst/>
              <a:latin typeface="Arial" panose="020B0604020202020204" pitchFamily="34" charset="0"/>
            </a:endParaRPr>
          </a:p>
          <a:p>
            <a:pPr>
              <a:buNone/>
            </a:pPr>
            <a:r>
              <a:rPr lang="en-US" sz="1800" b="1" i="0" u="none" strike="noStrike" dirty="0" err="1">
                <a:solidFill>
                  <a:srgbClr val="000000"/>
                </a:solidFill>
                <a:effectLst/>
                <a:latin typeface="Calibri" panose="020F0502020204030204" pitchFamily="34" charset="0"/>
              </a:rPr>
              <a:t>plt.hist</a:t>
            </a:r>
            <a:r>
              <a:rPr lang="en-US" sz="1800" b="1" i="0" u="none" strike="noStrike" dirty="0">
                <a:solidFill>
                  <a:srgbClr val="000000"/>
                </a:solidFill>
                <a:effectLst/>
                <a:latin typeface="Calibri" panose="020F0502020204030204" pitchFamily="34" charset="0"/>
              </a:rPr>
              <a:t>():</a:t>
            </a:r>
            <a:r>
              <a:rPr lang="en-US" sz="1800" b="0" i="0" u="none" strike="noStrike" dirty="0">
                <a:solidFill>
                  <a:srgbClr val="000000"/>
                </a:solidFill>
                <a:effectLst/>
                <a:latin typeface="Calibri" panose="020F0502020204030204" pitchFamily="34" charset="0"/>
              </a:rPr>
              <a:t> Construct histograms for visualizing the distribution of numerical data.</a:t>
            </a:r>
            <a:endParaRPr lang="en-IN" dirty="0"/>
          </a:p>
        </p:txBody>
      </p:sp>
    </p:spTree>
    <p:extLst>
      <p:ext uri="{BB962C8B-B14F-4D97-AF65-F5344CB8AC3E}">
        <p14:creationId xmlns:p14="http://schemas.microsoft.com/office/powerpoint/2010/main" val="18297804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853D4F-E9C1-5F58-152D-0BE7B21B6704}"/>
              </a:ext>
            </a:extLst>
          </p:cNvPr>
          <p:cNvSpPr txBox="1"/>
          <p:nvPr/>
        </p:nvSpPr>
        <p:spPr>
          <a:xfrm>
            <a:off x="762000" y="990600"/>
            <a:ext cx="9982200" cy="5078313"/>
          </a:xfrm>
          <a:prstGeom prst="rect">
            <a:avLst/>
          </a:prstGeom>
          <a:noFill/>
        </p:spPr>
        <p:txBody>
          <a:bodyPr wrap="square">
            <a:spAutoFit/>
          </a:bodyPr>
          <a:lstStyle/>
          <a:p>
            <a:pPr marL="317500" rtl="0" fontAlgn="base"/>
            <a:br>
              <a:rPr lang="en-US" b="0" dirty="0">
                <a:effectLst/>
              </a:rPr>
            </a:br>
            <a:endParaRPr lang="en-US" sz="1800" b="1" i="0" u="none" strike="noStrike" dirty="0">
              <a:solidFill>
                <a:srgbClr val="000000"/>
              </a:solidFill>
              <a:effectLst/>
              <a:latin typeface="Arial" panose="020B0604020202020204" pitchFamily="34" charset="0"/>
            </a:endParaRPr>
          </a:p>
          <a:p>
            <a:pPr marL="317500" algn="just" rtl="0" fontAlgn="base">
              <a:buFont typeface="+mj-lt"/>
              <a:buAutoNum type="arabicPeriod"/>
            </a:pPr>
            <a:r>
              <a:rPr lang="en-US" sz="1800" b="1" i="0" u="none" strike="noStrike" dirty="0" err="1">
                <a:solidFill>
                  <a:srgbClr val="000000"/>
                </a:solidFill>
                <a:effectLst/>
                <a:latin typeface="Calibri" panose="020F0502020204030204" pitchFamily="34" charset="0"/>
              </a:rPr>
              <a:t>plt.imshow</a:t>
            </a:r>
            <a:r>
              <a:rPr lang="en-US" sz="1800" b="1" i="0" u="none" strike="noStrike" dirty="0">
                <a:solidFill>
                  <a:srgbClr val="000000"/>
                </a:solidFill>
                <a:effectLst/>
                <a:latin typeface="Calibri" panose="020F0502020204030204" pitchFamily="34" charset="0"/>
              </a:rPr>
              <a:t>():</a:t>
            </a:r>
            <a:r>
              <a:rPr lang="en-US" sz="1800" b="0" i="0" u="none" strike="noStrike" dirty="0">
                <a:solidFill>
                  <a:srgbClr val="000000"/>
                </a:solidFill>
                <a:effectLst/>
                <a:latin typeface="Calibri" panose="020F0502020204030204" pitchFamily="34" charset="0"/>
              </a:rPr>
              <a:t> Display images and 2D arrays as images.</a:t>
            </a:r>
            <a:endParaRPr lang="en-US" sz="1800" b="1" i="0" u="none" strike="noStrike" dirty="0">
              <a:solidFill>
                <a:srgbClr val="000000"/>
              </a:solidFill>
              <a:effectLst/>
              <a:latin typeface="Arial" panose="020B0604020202020204" pitchFamily="34" charset="0"/>
            </a:endParaRPr>
          </a:p>
          <a:p>
            <a:pPr marL="317500" algn="just" rtl="0" fontAlgn="base">
              <a:buFont typeface="+mj-lt"/>
              <a:buAutoNum type="arabicPeriod"/>
            </a:pPr>
            <a:r>
              <a:rPr lang="en-US" sz="1800" b="1" i="0" u="none" strike="noStrike" dirty="0" err="1">
                <a:solidFill>
                  <a:srgbClr val="000000"/>
                </a:solidFill>
                <a:effectLst/>
                <a:latin typeface="Calibri" panose="020F0502020204030204" pitchFamily="34" charset="0"/>
              </a:rPr>
              <a:t>plt.contour</a:t>
            </a:r>
            <a:r>
              <a:rPr lang="en-US" sz="1800" b="1" i="0" u="none" strike="noStrike" dirty="0">
                <a:solidFill>
                  <a:srgbClr val="000000"/>
                </a:solidFill>
                <a:effectLst/>
                <a:latin typeface="Calibri" panose="020F0502020204030204" pitchFamily="34" charset="0"/>
              </a:rPr>
              <a:t>():</a:t>
            </a:r>
            <a:r>
              <a:rPr lang="en-US" sz="1800" b="0" i="0" u="none" strike="noStrike" dirty="0">
                <a:solidFill>
                  <a:srgbClr val="000000"/>
                </a:solidFill>
                <a:effectLst/>
                <a:latin typeface="Calibri" panose="020F0502020204030204" pitchFamily="34" charset="0"/>
              </a:rPr>
              <a:t> Generate contour plots to represent 3D data on a 2D surface.</a:t>
            </a:r>
            <a:endParaRPr lang="en-US" sz="1800" b="1" i="0" u="none" strike="noStrike" dirty="0">
              <a:solidFill>
                <a:srgbClr val="000000"/>
              </a:solidFill>
              <a:effectLst/>
              <a:latin typeface="Arial" panose="020B0604020202020204" pitchFamily="34" charset="0"/>
            </a:endParaRPr>
          </a:p>
          <a:p>
            <a:pPr marL="317500" algn="just" rtl="0" fontAlgn="base">
              <a:buFont typeface="+mj-lt"/>
              <a:buAutoNum type="arabicPeriod"/>
            </a:pPr>
            <a:r>
              <a:rPr lang="en-US" sz="1800" b="1" i="0" u="none" strike="noStrike" dirty="0" err="1">
                <a:solidFill>
                  <a:srgbClr val="000000"/>
                </a:solidFill>
                <a:effectLst/>
                <a:latin typeface="Calibri" panose="020F0502020204030204" pitchFamily="34" charset="0"/>
              </a:rPr>
              <a:t>plt.pie</a:t>
            </a:r>
            <a:r>
              <a:rPr lang="en-US" sz="1800" b="1" i="0" u="none" strike="noStrike" dirty="0">
                <a:solidFill>
                  <a:srgbClr val="000000"/>
                </a:solidFill>
                <a:effectLst/>
                <a:latin typeface="Calibri" panose="020F0502020204030204" pitchFamily="34" charset="0"/>
              </a:rPr>
              <a:t>():</a:t>
            </a:r>
            <a:r>
              <a:rPr lang="en-US" sz="1800" b="0" i="0" u="none" strike="noStrike" dirty="0">
                <a:solidFill>
                  <a:srgbClr val="000000"/>
                </a:solidFill>
                <a:effectLst/>
                <a:latin typeface="Calibri" panose="020F0502020204030204" pitchFamily="34" charset="0"/>
              </a:rPr>
              <a:t> Create pie charts to represent proportions of categorical variables.</a:t>
            </a:r>
            <a:endParaRPr lang="en-US" sz="1800" b="1" i="0" u="none" strike="noStrike" dirty="0">
              <a:solidFill>
                <a:srgbClr val="000000"/>
              </a:solidFill>
              <a:effectLst/>
              <a:latin typeface="Arial" panose="020B0604020202020204" pitchFamily="34" charset="0"/>
            </a:endParaRPr>
          </a:p>
          <a:p>
            <a:pPr marL="317500" algn="just" rtl="0" fontAlgn="base">
              <a:buFont typeface="+mj-lt"/>
              <a:buAutoNum type="arabicPeriod"/>
            </a:pPr>
            <a:r>
              <a:rPr lang="en-US" sz="1800" b="1" i="0" u="none" strike="noStrike" dirty="0" err="1">
                <a:solidFill>
                  <a:srgbClr val="000000"/>
                </a:solidFill>
                <a:effectLst/>
                <a:latin typeface="Calibri" panose="020F0502020204030204" pitchFamily="34" charset="0"/>
              </a:rPr>
              <a:t>plt.subplots</a:t>
            </a:r>
            <a:r>
              <a:rPr lang="en-US" sz="1800" b="1" i="0" u="none" strike="noStrike" dirty="0">
                <a:solidFill>
                  <a:srgbClr val="000000"/>
                </a:solidFill>
                <a:effectLst/>
                <a:latin typeface="Calibri" panose="020F0502020204030204" pitchFamily="34" charset="0"/>
              </a:rPr>
              <a:t>():</a:t>
            </a:r>
            <a:r>
              <a:rPr lang="en-US" sz="1800" b="0" i="0" u="none" strike="noStrike" dirty="0">
                <a:solidFill>
                  <a:srgbClr val="000000"/>
                </a:solidFill>
                <a:effectLst/>
                <a:latin typeface="Calibri" panose="020F0502020204030204" pitchFamily="34" charset="0"/>
              </a:rPr>
              <a:t> Create a grid of subplots for visualizing multiple plots in a single figure.</a:t>
            </a:r>
            <a:endParaRPr lang="en-US" sz="1800" b="1" i="0" u="none" strike="noStrike" dirty="0">
              <a:solidFill>
                <a:srgbClr val="000000"/>
              </a:solidFill>
              <a:effectLst/>
              <a:latin typeface="Arial" panose="020B0604020202020204" pitchFamily="34" charset="0"/>
            </a:endParaRPr>
          </a:p>
          <a:p>
            <a:pPr algn="just" rtl="0">
              <a:buNone/>
            </a:pPr>
            <a:r>
              <a:rPr lang="en-US" sz="1800" b="1" i="0" u="sng" dirty="0">
                <a:solidFill>
                  <a:srgbClr val="000000"/>
                </a:solidFill>
                <a:effectLst/>
                <a:latin typeface="Calibri" panose="020F0502020204030204" pitchFamily="34" charset="0"/>
              </a:rPr>
              <a:t>Use Cases for Matplotlib:</a:t>
            </a:r>
            <a:endParaRPr lang="en-US" b="0" dirty="0">
              <a:effectLst/>
            </a:endParaRPr>
          </a:p>
          <a:p>
            <a:pPr marL="317500" algn="just" rtl="0" fontAlgn="base">
              <a:buFont typeface="+mj-lt"/>
              <a:buAutoNum type="arabicPeriod" startAt="5"/>
            </a:pPr>
            <a:r>
              <a:rPr lang="en-US" sz="1800" b="1" i="0" u="none" strike="noStrike" dirty="0">
                <a:solidFill>
                  <a:srgbClr val="000000"/>
                </a:solidFill>
                <a:effectLst/>
                <a:latin typeface="Calibri" panose="020F0502020204030204" pitchFamily="34" charset="0"/>
              </a:rPr>
              <a:t>Data Exploration:</a:t>
            </a:r>
            <a:r>
              <a:rPr lang="en-US" sz="1800" b="0" i="0" u="none" strike="noStrike" dirty="0">
                <a:solidFill>
                  <a:srgbClr val="000000"/>
                </a:solidFill>
                <a:effectLst/>
                <a:latin typeface="Calibri" panose="020F0502020204030204" pitchFamily="34" charset="0"/>
              </a:rPr>
              <a:t> Matplotlib is essential for exploring datasets visually, allowing users to understand the underlying patterns, trends, and distributions within the data.</a:t>
            </a:r>
            <a:endParaRPr lang="en-US" sz="1800" b="1" i="0" u="none" strike="noStrike" dirty="0">
              <a:solidFill>
                <a:srgbClr val="000000"/>
              </a:solidFill>
              <a:effectLst/>
              <a:latin typeface="Arial" panose="020B0604020202020204" pitchFamily="34" charset="0"/>
            </a:endParaRPr>
          </a:p>
          <a:p>
            <a:pPr marL="317500" algn="just" rtl="0" fontAlgn="base">
              <a:buFont typeface="+mj-lt"/>
              <a:buAutoNum type="arabicPeriod" startAt="5"/>
            </a:pPr>
            <a:r>
              <a:rPr lang="en-US" sz="1800" b="1" i="0" u="none" strike="noStrike" dirty="0">
                <a:solidFill>
                  <a:srgbClr val="000000"/>
                </a:solidFill>
                <a:effectLst/>
                <a:latin typeface="Calibri" panose="020F0502020204030204" pitchFamily="34" charset="0"/>
              </a:rPr>
              <a:t>Data Presentation:</a:t>
            </a:r>
            <a:r>
              <a:rPr lang="en-US" sz="1800" b="0" i="0" u="none" strike="noStrike" dirty="0">
                <a:solidFill>
                  <a:srgbClr val="000000"/>
                </a:solidFill>
                <a:effectLst/>
                <a:latin typeface="Calibri" panose="020F0502020204030204" pitchFamily="34" charset="0"/>
              </a:rPr>
              <a:t> It enables users to present their findings and insights effectively through visually appealing plots and charts, facilitating clear communication of complex information.</a:t>
            </a:r>
            <a:endParaRPr lang="en-US" sz="1800" b="1" i="0" u="none" strike="noStrike" dirty="0">
              <a:solidFill>
                <a:srgbClr val="000000"/>
              </a:solidFill>
              <a:effectLst/>
              <a:latin typeface="Arial" panose="020B0604020202020204" pitchFamily="34" charset="0"/>
            </a:endParaRPr>
          </a:p>
          <a:p>
            <a:pPr marL="317500" algn="just" rtl="0" fontAlgn="base">
              <a:buFont typeface="+mj-lt"/>
              <a:buAutoNum type="arabicPeriod" startAt="5"/>
            </a:pPr>
            <a:r>
              <a:rPr lang="en-US" sz="1800" b="1" i="0" u="none" strike="noStrike" dirty="0">
                <a:solidFill>
                  <a:srgbClr val="000000"/>
                </a:solidFill>
                <a:effectLst/>
                <a:latin typeface="Calibri" panose="020F0502020204030204" pitchFamily="34" charset="0"/>
              </a:rPr>
              <a:t>Model Evaluation:</a:t>
            </a:r>
            <a:r>
              <a:rPr lang="en-US" sz="1800" b="0" i="0" u="none" strike="noStrike" dirty="0">
                <a:solidFill>
                  <a:srgbClr val="000000"/>
                </a:solidFill>
                <a:effectLst/>
                <a:latin typeface="Calibri" panose="020F0502020204030204" pitchFamily="34" charset="0"/>
              </a:rPr>
              <a:t> Matplotlib is commonly used in machine learning and data analysis workflows to visualize model performance metrics, such as accuracy, precision, recall, and ROC curves.</a:t>
            </a:r>
            <a:endParaRPr lang="en-US" sz="1800" b="1" i="0" u="none" strike="noStrike" dirty="0">
              <a:solidFill>
                <a:srgbClr val="000000"/>
              </a:solidFill>
              <a:effectLst/>
              <a:latin typeface="Arial" panose="020B0604020202020204" pitchFamily="34" charset="0"/>
            </a:endParaRPr>
          </a:p>
          <a:p>
            <a:pPr marL="317500" algn="just" rtl="0" fontAlgn="base">
              <a:buFont typeface="+mj-lt"/>
              <a:buAutoNum type="arabicPeriod" startAt="5"/>
            </a:pPr>
            <a:r>
              <a:rPr lang="en-US" sz="1800" b="1" i="0" u="none" strike="noStrike" dirty="0">
                <a:solidFill>
                  <a:srgbClr val="000000"/>
                </a:solidFill>
                <a:effectLst/>
                <a:latin typeface="Calibri" panose="020F0502020204030204" pitchFamily="34" charset="0"/>
              </a:rPr>
              <a:t>Report Generation:</a:t>
            </a:r>
            <a:r>
              <a:rPr lang="en-US" sz="1800" b="0" i="0" u="none" strike="noStrike" dirty="0">
                <a:solidFill>
                  <a:srgbClr val="000000"/>
                </a:solidFill>
                <a:effectLst/>
                <a:latin typeface="Calibri" panose="020F0502020204030204" pitchFamily="34" charset="0"/>
              </a:rPr>
              <a:t> It's instrumental in generating reports, dashboards, and presentations with visualizations embedded, enhancing the storytelling aspect of data analysis.</a:t>
            </a:r>
            <a:endParaRPr lang="en-US" sz="1800" b="1" i="0" u="none" strike="noStrike" dirty="0">
              <a:solidFill>
                <a:srgbClr val="000000"/>
              </a:solidFill>
              <a:effectLst/>
              <a:latin typeface="Arial" panose="020B0604020202020204" pitchFamily="34" charset="0"/>
            </a:endParaRPr>
          </a:p>
          <a:p>
            <a:pPr marL="317500" algn="just" rtl="0" fontAlgn="base">
              <a:buFont typeface="+mj-lt"/>
              <a:buAutoNum type="arabicPeriod" startAt="5"/>
            </a:pPr>
            <a:r>
              <a:rPr lang="en-US" sz="1800" b="1" i="0" u="none" strike="noStrike" dirty="0">
                <a:solidFill>
                  <a:srgbClr val="000000"/>
                </a:solidFill>
                <a:effectLst/>
                <a:latin typeface="Calibri" panose="020F0502020204030204" pitchFamily="34" charset="0"/>
              </a:rPr>
              <a:t>Publication-Quality Figures:</a:t>
            </a:r>
            <a:r>
              <a:rPr lang="en-US" sz="1800" b="0" i="0" u="none" strike="noStrike" dirty="0">
                <a:solidFill>
                  <a:srgbClr val="000000"/>
                </a:solidFill>
                <a:effectLst/>
                <a:latin typeface="Calibri" panose="020F0502020204030204" pitchFamily="34" charset="0"/>
              </a:rPr>
              <a:t> Matplotlib allows users to create publication-quality figures for academic papers, presentations, and publications, ensuring clarity and precision in conveying research findings.</a:t>
            </a:r>
            <a:endParaRPr lang="en-US" sz="1800" b="1"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1110373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470E52EC-20F5-7FE1-7F65-4EF1BBDE54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295400"/>
            <a:ext cx="8791575" cy="4972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0630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4B187705-3B7D-7B99-951F-DBFE174203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295400"/>
            <a:ext cx="8667750" cy="506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4779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8A157585-387B-CD71-5A07-D1F422B4AF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066800"/>
            <a:ext cx="8715375" cy="4981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574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a:extLst>
              <a:ext uri="{FF2B5EF4-FFF2-40B4-BE49-F238E27FC236}">
                <a16:creationId xmlns:a16="http://schemas.microsoft.com/office/drawing/2014/main" id="{66A794E8-8077-C0BC-DB78-19A213DEE3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219200"/>
            <a:ext cx="8686800" cy="4972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6633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EED3E0DC-4646-DE66-2493-696D619D1B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676400"/>
            <a:ext cx="8677275" cy="4257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25466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0B60B-995D-3D98-BFDF-841A7B337903}"/>
              </a:ext>
            </a:extLst>
          </p:cNvPr>
          <p:cNvSpPr>
            <a:spLocks noGrp="1"/>
          </p:cNvSpPr>
          <p:nvPr>
            <p:ph type="title"/>
          </p:nvPr>
        </p:nvSpPr>
        <p:spPr/>
        <p:txBody>
          <a:bodyPr/>
          <a:lstStyle/>
          <a:p>
            <a:r>
              <a:rPr lang="en-US" dirty="0"/>
              <a:t>Conclusion</a:t>
            </a:r>
            <a:br>
              <a:rPr lang="en-US" dirty="0"/>
            </a:br>
            <a:endParaRPr lang="en-IN" dirty="0"/>
          </a:p>
        </p:txBody>
      </p:sp>
      <p:sp>
        <p:nvSpPr>
          <p:cNvPr id="6" name="Rectangle 3">
            <a:extLst>
              <a:ext uri="{FF2B5EF4-FFF2-40B4-BE49-F238E27FC236}">
                <a16:creationId xmlns:a16="http://schemas.microsoft.com/office/drawing/2014/main" id="{A3F31060-78E7-2B4D-D48F-974AA0158FE9}"/>
              </a:ext>
            </a:extLst>
          </p:cNvPr>
          <p:cNvSpPr>
            <a:spLocks noGrp="1" noChangeArrowheads="1"/>
          </p:cNvSpPr>
          <p:nvPr>
            <p:ph type="body" idx="1"/>
          </p:nvPr>
        </p:nvSpPr>
        <p:spPr bwMode="auto">
          <a:xfrm>
            <a:off x="904443" y="2099103"/>
            <a:ext cx="10145712"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In this session, we explored </a:t>
            </a:r>
            <a:r>
              <a:rPr kumimoji="0" lang="en-US" altLang="en-US" sz="1800" b="1" i="0" u="none" strike="noStrike" cap="none" normalizeH="0" baseline="0" dirty="0">
                <a:ln>
                  <a:noFill/>
                </a:ln>
                <a:solidFill>
                  <a:schemeClr val="tx1"/>
                </a:solidFill>
                <a:effectLst/>
                <a:latin typeface="Arial" panose="020B0604020202020204" pitchFamily="34" charset="0"/>
              </a:rPr>
              <a:t>NumPy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Pandas</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Matplotlib</a:t>
            </a:r>
            <a:r>
              <a:rPr kumimoji="0" lang="en-US" altLang="en-US" sz="1800" b="0" i="0" u="none" strike="noStrike" cap="none" normalizeH="0" baseline="0" dirty="0">
                <a:ln>
                  <a:noFill/>
                </a:ln>
                <a:solidFill>
                  <a:schemeClr val="tx1"/>
                </a:solidFill>
                <a:effectLst/>
                <a:latin typeface="Arial" panose="020B0604020202020204" pitchFamily="34" charset="0"/>
              </a:rPr>
              <a:t> — the three core libraries for data science and analytics in Python.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NumPy</a:t>
            </a:r>
            <a:r>
              <a:rPr kumimoji="0" lang="en-US" altLang="en-US" sz="1800" b="0" i="0" u="none" strike="noStrike" cap="none" normalizeH="0" baseline="0" dirty="0">
                <a:ln>
                  <a:noFill/>
                </a:ln>
                <a:solidFill>
                  <a:schemeClr val="tx1"/>
                </a:solidFill>
                <a:effectLst/>
                <a:latin typeface="Arial" panose="020B0604020202020204" pitchFamily="34" charset="0"/>
              </a:rPr>
              <a:t> helped us understand efficient numerical computing using arrays, vectorized operations, and mathematical functions.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Pandas</a:t>
            </a:r>
            <a:r>
              <a:rPr kumimoji="0" lang="en-US" altLang="en-US" sz="1800" b="0" i="0" u="none" strike="noStrike" cap="none" normalizeH="0" baseline="0" dirty="0">
                <a:ln>
                  <a:noFill/>
                </a:ln>
                <a:solidFill>
                  <a:schemeClr val="tx1"/>
                </a:solidFill>
                <a:effectLst/>
                <a:latin typeface="Arial" panose="020B0604020202020204" pitchFamily="34" charset="0"/>
              </a:rPr>
              <a:t> enabled powerful </a:t>
            </a:r>
            <a:r>
              <a:rPr kumimoji="0" lang="en-US" altLang="en-US" sz="1800" b="1" i="0" u="none" strike="noStrike" cap="none" normalizeH="0" baseline="0" dirty="0">
                <a:ln>
                  <a:noFill/>
                </a:ln>
                <a:solidFill>
                  <a:schemeClr val="tx1"/>
                </a:solidFill>
                <a:effectLst/>
                <a:latin typeface="Arial" panose="020B0604020202020204" pitchFamily="34" charset="0"/>
              </a:rPr>
              <a:t>data manipulation</a:t>
            </a:r>
            <a:r>
              <a:rPr kumimoji="0" lang="en-US" altLang="en-US" sz="1800" b="0" i="0" u="none" strike="noStrike" cap="none" normalizeH="0" baseline="0" dirty="0">
                <a:ln>
                  <a:noFill/>
                </a:ln>
                <a:solidFill>
                  <a:schemeClr val="tx1"/>
                </a:solidFill>
                <a:effectLst/>
                <a:latin typeface="Arial" panose="020B0604020202020204" pitchFamily="34" charset="0"/>
              </a:rPr>
              <a:t>, including loading, cleaning, transforming, and analyzing tabular datasets.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Matplotlib</a:t>
            </a:r>
            <a:r>
              <a:rPr kumimoji="0" lang="en-US" altLang="en-US" sz="1800" b="0" i="0" u="none" strike="noStrike" cap="none" normalizeH="0" baseline="0" dirty="0">
                <a:ln>
                  <a:noFill/>
                </a:ln>
                <a:solidFill>
                  <a:schemeClr val="tx1"/>
                </a:solidFill>
                <a:effectLst/>
                <a:latin typeface="Arial" panose="020B0604020202020204" pitchFamily="34" charset="0"/>
              </a:rPr>
              <a:t> allowed us to </a:t>
            </a:r>
            <a:r>
              <a:rPr kumimoji="0" lang="en-US" altLang="en-US" sz="1800" b="1" i="0" u="none" strike="noStrike" cap="none" normalizeH="0" baseline="0" dirty="0">
                <a:ln>
                  <a:noFill/>
                </a:ln>
                <a:solidFill>
                  <a:schemeClr val="tx1"/>
                </a:solidFill>
                <a:effectLst/>
                <a:latin typeface="Arial" panose="020B0604020202020204" pitchFamily="34" charset="0"/>
              </a:rPr>
              <a:t>visualize data</a:t>
            </a:r>
            <a:r>
              <a:rPr kumimoji="0" lang="en-US" altLang="en-US" sz="1800" b="0" i="0" u="none" strike="noStrike" cap="none" normalizeH="0" baseline="0" dirty="0">
                <a:ln>
                  <a:noFill/>
                </a:ln>
                <a:solidFill>
                  <a:schemeClr val="tx1"/>
                </a:solidFill>
                <a:effectLst/>
                <a:latin typeface="Arial" panose="020B0604020202020204" pitchFamily="34" charset="0"/>
              </a:rPr>
              <a:t> through plots such as line charts, bar graphs, histograms, and scatter plots.</a:t>
            </a:r>
          </a:p>
        </p:txBody>
      </p:sp>
    </p:spTree>
    <p:extLst>
      <p:ext uri="{BB962C8B-B14F-4D97-AF65-F5344CB8AC3E}">
        <p14:creationId xmlns:p14="http://schemas.microsoft.com/office/powerpoint/2010/main" val="13807306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10E066-700E-6854-2911-184503049E8D}"/>
              </a:ext>
            </a:extLst>
          </p:cNvPr>
          <p:cNvSpPr txBox="1"/>
          <p:nvPr/>
        </p:nvSpPr>
        <p:spPr>
          <a:xfrm>
            <a:off x="6743702" y="3124199"/>
            <a:ext cx="4038598" cy="830997"/>
          </a:xfrm>
          <a:prstGeom prst="rect">
            <a:avLst/>
          </a:prstGeom>
          <a:noFill/>
        </p:spPr>
        <p:txBody>
          <a:bodyPr wrap="square" rtlCol="0">
            <a:spAutoFit/>
          </a:bodyPr>
          <a:lstStyle/>
          <a:p>
            <a:r>
              <a:rPr lang="en-IN" sz="4800" b="1" dirty="0"/>
              <a:t>THANK YOU </a:t>
            </a:r>
            <a:endParaRPr lang="en-IN" sz="8800" b="1" dirty="0"/>
          </a:p>
        </p:txBody>
      </p:sp>
      <p:pic>
        <p:nvPicPr>
          <p:cNvPr id="11266" name="Picture 2">
            <a:extLst>
              <a:ext uri="{FF2B5EF4-FFF2-40B4-BE49-F238E27FC236}">
                <a16:creationId xmlns:a16="http://schemas.microsoft.com/office/drawing/2014/main" id="{FD4105D3-7C81-A560-FE71-4F24A6884B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047750"/>
            <a:ext cx="47625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61707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574</TotalTime>
  <Words>1203</Words>
  <Application>Microsoft Office PowerPoint</Application>
  <PresentationFormat>Widescreen</PresentationFormat>
  <Paragraphs>89</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AI and ML  in Cybersecurity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Mani</dc:creator>
  <cp:lastModifiedBy>HEMAVATHI SOMU</cp:lastModifiedBy>
  <cp:revision>7</cp:revision>
  <dcterms:created xsi:type="dcterms:W3CDTF">2025-06-19T08:37:38Z</dcterms:created>
  <dcterms:modified xsi:type="dcterms:W3CDTF">2025-11-19T07:07:52Z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2025-01-11T00:00:00Z</vt:filetime>
  </property>
  <property fmtid="{D5CDD505-2E9C-101B-9397-08002B2CF9AE}" pid="3" name="Creator">
    <vt:lpwstr>Microsoft® PowerPoint® 2013</vt:lpwstr>
  </property>
  <property fmtid="{D5CDD505-2E9C-101B-9397-08002B2CF9AE}" pid="4" name="LastSaved">
    <vt:filetime>2025-06-19T00:00:00Z</vt:filetime>
  </property>
  <property fmtid="{D5CDD505-2E9C-101B-9397-08002B2CF9AE}" pid="5" name="Producer">
    <vt:lpwstr>Microsoft® PowerPoint® 2013</vt:lpwstr>
  </property>
</Properties>
</file>