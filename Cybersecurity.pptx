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8" r:id="rId3"/>
    <p:sldId id="282" r:id="rId4"/>
    <p:sldId id="273" r:id="rId5"/>
    <p:sldId id="284" r:id="rId6"/>
    <p:sldId id="283" r:id="rId7"/>
    <p:sldId id="307" r:id="rId8"/>
    <p:sldId id="292" r:id="rId9"/>
    <p:sldId id="293" r:id="rId10"/>
    <p:sldId id="296" r:id="rId11"/>
    <p:sldId id="294" r:id="rId12"/>
    <p:sldId id="297" r:id="rId13"/>
    <p:sldId id="295" r:id="rId14"/>
    <p:sldId id="298" r:id="rId15"/>
    <p:sldId id="281" r:id="rId16"/>
    <p:sldId id="274" r:id="rId17"/>
    <p:sldId id="275" r:id="rId18"/>
    <p:sldId id="308" r:id="rId19"/>
    <p:sldId id="309" r:id="rId20"/>
    <p:sldId id="310" r:id="rId21"/>
    <p:sldId id="276" r:id="rId22"/>
    <p:sldId id="277" r:id="rId23"/>
    <p:sldId id="279" r:id="rId24"/>
    <p:sldId id="280" r:id="rId25"/>
    <p:sldId id="285" r:id="rId26"/>
    <p:sldId id="286" r:id="rId27"/>
    <p:sldId id="303" r:id="rId28"/>
    <p:sldId id="306" r:id="rId29"/>
    <p:sldId id="257" r:id="rId30"/>
    <p:sldId id="304" r:id="rId31"/>
    <p:sldId id="259" r:id="rId32"/>
    <p:sldId id="305" r:id="rId33"/>
    <p:sldId id="311" r:id="rId34"/>
    <p:sldId id="300" r:id="rId35"/>
    <p:sldId id="258" r:id="rId36"/>
    <p:sldId id="260" r:id="rId37"/>
    <p:sldId id="263" r:id="rId38"/>
    <p:sldId id="265" r:id="rId39"/>
    <p:sldId id="269" r:id="rId40"/>
    <p:sldId id="271" r:id="rId41"/>
    <p:sldId id="272" r:id="rId4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>
      <p:cViewPr varScale="1">
        <p:scale>
          <a:sx n="78" d="100"/>
          <a:sy n="78" d="100"/>
        </p:scale>
        <p:origin x="103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927" y="4750307"/>
            <a:ext cx="1894072" cy="21076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093" y="3115555"/>
            <a:ext cx="1725028" cy="43337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14631" y="216575"/>
            <a:ext cx="2099927" cy="52698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893" y="3115555"/>
            <a:ext cx="1725028" cy="43337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12505" y="3115555"/>
            <a:ext cx="1725028" cy="43337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22305" y="3115555"/>
            <a:ext cx="1725028" cy="43337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2007672" cy="217660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41833" y="3115555"/>
            <a:ext cx="1725028" cy="4333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09084" y="2466594"/>
            <a:ext cx="3594734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97668" y="4750307"/>
            <a:ext cx="1894331" cy="21076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3023" y="3115055"/>
            <a:ext cx="1725168" cy="43433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14559" y="216408"/>
            <a:ext cx="2100072" cy="52730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82823" y="3115055"/>
            <a:ext cx="1725168" cy="43433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12435" y="3115055"/>
            <a:ext cx="1725167" cy="43433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22235" y="3115055"/>
            <a:ext cx="1725168" cy="43433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41764" y="3115055"/>
            <a:ext cx="1725168" cy="43433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2007108" cy="21762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882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635" y="1692529"/>
            <a:ext cx="10907395" cy="3210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90600" y="2590800"/>
            <a:ext cx="9601200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5400" dirty="0"/>
              <a:t> Cybersecurity</a:t>
            </a:r>
            <a:endParaRPr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A712-F3D3-2E4D-9F05-EC4B20B3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What is in Cybersecurity?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7C3DD-2CB2-D3A2-E988-0B5C527A5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4443" y="1295400"/>
            <a:ext cx="10907395" cy="5067221"/>
          </a:xfrm>
        </p:spPr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Cyber security is the practice of </a:t>
            </a:r>
            <a:r>
              <a:rPr lang="en-US" b="1" dirty="0"/>
              <a:t>protecting computers, networks, applications, and data</a:t>
            </a:r>
            <a:r>
              <a:rPr lang="en-US" dirty="0"/>
              <a:t> from digital attacks.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r>
              <a:rPr lang="en-US" b="1" dirty="0"/>
              <a:t>Real Example:</a:t>
            </a:r>
            <a:br>
              <a:rPr lang="en-US" dirty="0"/>
            </a:br>
            <a:r>
              <a:rPr lang="en-US" dirty="0"/>
              <a:t>– Gmail blocking spam emails</a:t>
            </a:r>
            <a:br>
              <a:rPr lang="en-US" dirty="0"/>
            </a:br>
            <a:r>
              <a:rPr lang="en-US" dirty="0"/>
              <a:t>– Bank preventing unauthorized login</a:t>
            </a:r>
          </a:p>
        </p:txBody>
      </p:sp>
    </p:spTree>
    <p:extLst>
      <p:ext uri="{BB962C8B-B14F-4D97-AF65-F5344CB8AC3E}">
        <p14:creationId xmlns:p14="http://schemas.microsoft.com/office/powerpoint/2010/main" val="901727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BDCC8-0339-A834-85A0-89A69A6F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Should You Learn Cyber Security?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D27DA-2ABF-1B68-76BB-6C44BA09F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635" y="1692529"/>
            <a:ext cx="10907395" cy="49287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✔ Massive job demand</a:t>
            </a:r>
            <a:br>
              <a:rPr lang="en-IN" dirty="0"/>
            </a:br>
            <a:r>
              <a:rPr lang="en-IN" dirty="0"/>
              <a:t>✔ High salary &amp; global opportunities</a:t>
            </a:r>
            <a:br>
              <a:rPr lang="en-IN" dirty="0"/>
            </a:br>
            <a:r>
              <a:rPr lang="en-IN" dirty="0"/>
              <a:t>✔ Every company needs security</a:t>
            </a:r>
            <a:br>
              <a:rPr lang="en-IN" dirty="0"/>
            </a:br>
            <a:r>
              <a:rPr lang="en-IN" dirty="0"/>
              <a:t>✔ Protect your own digital identity</a:t>
            </a:r>
            <a:br>
              <a:rPr lang="en-IN" dirty="0"/>
            </a:br>
            <a:r>
              <a:rPr lang="en-IN" dirty="0"/>
              <a:t>✔ AI + Security = Future job trend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/>
              <a:t>Scenario:</a:t>
            </a:r>
            <a:br>
              <a:rPr lang="en-IN" dirty="0"/>
            </a:br>
            <a:r>
              <a:rPr lang="en-IN" dirty="0"/>
              <a:t>A student gets hacked on Instagram → learns cyber security → helps 10 friends secure accounts → gets an internship.</a:t>
            </a:r>
          </a:p>
        </p:txBody>
      </p:sp>
    </p:spTree>
    <p:extLst>
      <p:ext uri="{BB962C8B-B14F-4D97-AF65-F5344CB8AC3E}">
        <p14:creationId xmlns:p14="http://schemas.microsoft.com/office/powerpoint/2010/main" val="1705800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242BF2-CF92-7930-FC12-AB2F61E6B820}"/>
              </a:ext>
            </a:extLst>
          </p:cNvPr>
          <p:cNvSpPr txBox="1"/>
          <p:nvPr/>
        </p:nvSpPr>
        <p:spPr>
          <a:xfrm>
            <a:off x="685800" y="1066800"/>
            <a:ext cx="10363200" cy="5159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b="1" dirty="0">
                <a:solidFill>
                  <a:srgbClr val="006600"/>
                </a:solidFill>
                <a:latin typeface="+mn-lt"/>
              </a:rPr>
              <a:t>What is Cyber?</a:t>
            </a:r>
            <a:endParaRPr lang="en-IN" sz="2400" dirty="0">
              <a:solidFill>
                <a:srgbClr val="006600"/>
              </a:solidFill>
              <a:latin typeface="+mn-lt"/>
            </a:endParaRPr>
          </a:p>
          <a:p>
            <a:pPr>
              <a:lnSpc>
                <a:spcPct val="200000"/>
              </a:lnSpc>
            </a:pPr>
            <a:r>
              <a:rPr lang="en-IN" sz="2400" dirty="0">
                <a:latin typeface="+mn-lt"/>
              </a:rPr>
              <a:t>Anything related to </a:t>
            </a:r>
            <a:r>
              <a:rPr lang="en-IN" sz="2400" b="1" dirty="0">
                <a:latin typeface="+mn-lt"/>
              </a:rPr>
              <a:t>computers, networks, data, internet, digital devices</a:t>
            </a:r>
            <a:r>
              <a:rPr lang="en-IN" sz="2400" dirty="0">
                <a:latin typeface="+mn-lt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IN" sz="2400" b="1" dirty="0">
                <a:latin typeface="+mn-lt"/>
              </a:rPr>
              <a:t>Examples:</a:t>
            </a:r>
            <a:br>
              <a:rPr lang="en-IN" sz="2400" dirty="0">
                <a:latin typeface="+mn-lt"/>
              </a:rPr>
            </a:br>
            <a:r>
              <a:rPr lang="en-IN" sz="2400" dirty="0">
                <a:latin typeface="+mn-lt"/>
              </a:rPr>
              <a:t>– Cyber cafe</a:t>
            </a:r>
            <a:br>
              <a:rPr lang="en-IN" sz="2400" dirty="0">
                <a:latin typeface="+mn-lt"/>
              </a:rPr>
            </a:br>
            <a:r>
              <a:rPr lang="en-IN" sz="2400" dirty="0">
                <a:latin typeface="+mn-lt"/>
              </a:rPr>
              <a:t>– Cyber crime</a:t>
            </a:r>
            <a:br>
              <a:rPr lang="en-IN" sz="2400" dirty="0">
                <a:latin typeface="+mn-lt"/>
              </a:rPr>
            </a:br>
            <a:r>
              <a:rPr lang="en-IN" sz="2400" dirty="0">
                <a:latin typeface="+mn-lt"/>
              </a:rPr>
              <a:t>– Cyber law</a:t>
            </a:r>
            <a:br>
              <a:rPr lang="en-IN" sz="2400" dirty="0">
                <a:latin typeface="+mn-lt"/>
              </a:rPr>
            </a:br>
            <a:r>
              <a:rPr lang="en-IN" sz="2400" dirty="0">
                <a:latin typeface="+mn-lt"/>
              </a:rPr>
              <a:t>– Cyber attack</a:t>
            </a:r>
          </a:p>
        </p:txBody>
      </p:sp>
    </p:spTree>
    <p:extLst>
      <p:ext uri="{BB962C8B-B14F-4D97-AF65-F5344CB8AC3E}">
        <p14:creationId xmlns:p14="http://schemas.microsoft.com/office/powerpoint/2010/main" val="2655455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AC13-FB07-7B8F-4554-F2193B077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Security?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DA03B-631A-07F4-A249-2E498925A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635" y="1692529"/>
            <a:ext cx="10907395" cy="3587457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Protecting something from damage, loss, or unauthorized access.</a:t>
            </a:r>
            <a:endParaRPr lang="en-US" b="1" dirty="0"/>
          </a:p>
          <a:p>
            <a:pPr>
              <a:lnSpc>
                <a:spcPct val="200000"/>
              </a:lnSpc>
            </a:pPr>
            <a:r>
              <a:rPr lang="en-US" b="1" dirty="0"/>
              <a:t>Types:</a:t>
            </a:r>
            <a:br>
              <a:rPr lang="en-US" dirty="0"/>
            </a:br>
            <a:r>
              <a:rPr lang="en-US" dirty="0"/>
              <a:t>✔ Physical (guards, locks)</a:t>
            </a:r>
            <a:br>
              <a:rPr lang="en-US" dirty="0"/>
            </a:br>
            <a:r>
              <a:rPr lang="en-US" dirty="0"/>
              <a:t>✔ Digital (passwords, firewalls)</a:t>
            </a:r>
            <a:br>
              <a:rPr lang="en-US" dirty="0"/>
            </a:br>
            <a:r>
              <a:rPr lang="en-US" dirty="0"/>
              <a:t>✔ Human (training employees)</a:t>
            </a:r>
          </a:p>
        </p:txBody>
      </p:sp>
    </p:spTree>
    <p:extLst>
      <p:ext uri="{BB962C8B-B14F-4D97-AF65-F5344CB8AC3E}">
        <p14:creationId xmlns:p14="http://schemas.microsoft.com/office/powerpoint/2010/main" val="863836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C8723-6E73-01C5-F15F-05302401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Security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2DE14-2B95-27EE-BD7E-383B0CDD4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635" y="1692529"/>
            <a:ext cx="10907395" cy="4328557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Network Security</a:t>
            </a:r>
            <a:r>
              <a:rPr lang="en-IN" dirty="0"/>
              <a:t> – firewalls, routers, IDS/IPS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Application Security</a:t>
            </a:r>
            <a:r>
              <a:rPr lang="en-IN" dirty="0"/>
              <a:t> – secure coding, patching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Cloud Security</a:t>
            </a:r>
            <a:r>
              <a:rPr lang="en-IN" dirty="0"/>
              <a:t> – AWS, Azure protection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Endpoint Security</a:t>
            </a:r>
            <a:r>
              <a:rPr lang="en-IN" dirty="0"/>
              <a:t> – antivirus, device security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Information Security</a:t>
            </a:r>
            <a:r>
              <a:rPr lang="en-IN" dirty="0"/>
              <a:t> – data encryption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IN" b="1" dirty="0"/>
              <a:t>Operational Security</a:t>
            </a:r>
            <a:r>
              <a:rPr lang="en-IN" dirty="0"/>
              <a:t> – organizational policies</a:t>
            </a:r>
          </a:p>
        </p:txBody>
      </p:sp>
    </p:spTree>
    <p:extLst>
      <p:ext uri="{BB962C8B-B14F-4D97-AF65-F5344CB8AC3E}">
        <p14:creationId xmlns:p14="http://schemas.microsoft.com/office/powerpoint/2010/main" val="1133330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C79ACF-9584-4FDF-A6EC-3CEEF0F9AF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723900"/>
            <a:ext cx="8445192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42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1B16-1CD8-4A62-903B-1E028CE4F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r>
              <a:rPr lang="en-GB" dirty="0"/>
              <a:t>CIA Triad (Confidentiality, Integrity, Availability)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EB07F-85F2-4154-A6DA-9A87AF3E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692529"/>
            <a:ext cx="11277600" cy="4339650"/>
          </a:xfrm>
        </p:spPr>
        <p:txBody>
          <a:bodyPr/>
          <a:lstStyle/>
          <a:p>
            <a:r>
              <a:rPr lang="en-GB" dirty="0"/>
              <a:t>Every cybersecurity policy, tool, and defence mechanism is designed to support one or more of these three principles.</a:t>
            </a:r>
          </a:p>
          <a:p>
            <a:endParaRPr lang="en-GB" dirty="0"/>
          </a:p>
          <a:p>
            <a:pPr algn="ctr"/>
            <a:r>
              <a:rPr lang="en-US" b="1" dirty="0"/>
              <a:t>CIA Triad = Keep data safe, correct, and available.</a:t>
            </a:r>
            <a:endParaRPr lang="en-GB" b="1" dirty="0"/>
          </a:p>
          <a:p>
            <a:endParaRPr lang="en-GB" dirty="0"/>
          </a:p>
          <a:p>
            <a:pPr marL="742950" lvl="1" indent="-285750" algn="l">
              <a:buFont typeface="Wingdings" panose="05000000000000000000" pitchFamily="2" charset="2"/>
              <a:buChar char="v"/>
            </a:pPr>
            <a:r>
              <a:rPr lang="en-GB" sz="2400" b="1" dirty="0"/>
              <a:t>Confidentiality</a:t>
            </a:r>
            <a:r>
              <a:rPr lang="en-GB" sz="2400" dirty="0"/>
              <a:t> – </a:t>
            </a:r>
            <a:r>
              <a:rPr lang="en-IN" sz="2400" dirty="0"/>
              <a:t>Keep Data Secret</a:t>
            </a:r>
            <a:br>
              <a:rPr lang="en-GB" sz="2400" dirty="0"/>
            </a:br>
            <a:endParaRPr lang="en-GB" sz="2400" dirty="0"/>
          </a:p>
          <a:p>
            <a:pPr marL="742950" lvl="1" indent="-285750" algn="l">
              <a:buFont typeface="Wingdings" panose="05000000000000000000" pitchFamily="2" charset="2"/>
              <a:buChar char="v"/>
            </a:pPr>
            <a:r>
              <a:rPr lang="en-GB" sz="2400" b="1" dirty="0"/>
              <a:t>Integrity</a:t>
            </a:r>
            <a:r>
              <a:rPr lang="en-GB" sz="2400" dirty="0"/>
              <a:t> – </a:t>
            </a:r>
            <a:r>
              <a:rPr lang="en-IN" sz="2400" dirty="0"/>
              <a:t>Keep Data Correct</a:t>
            </a:r>
            <a:br>
              <a:rPr lang="en-GB" sz="2400" dirty="0"/>
            </a:br>
            <a:endParaRPr lang="en-GB" sz="2400" dirty="0"/>
          </a:p>
          <a:p>
            <a:pPr marL="742950" lvl="1" indent="-285750" algn="l">
              <a:buFont typeface="Wingdings" panose="05000000000000000000" pitchFamily="2" charset="2"/>
              <a:buChar char="v"/>
            </a:pPr>
            <a:r>
              <a:rPr lang="en-GB" sz="2400" b="1" dirty="0"/>
              <a:t>Availability</a:t>
            </a:r>
            <a:r>
              <a:rPr lang="en-GB" sz="2400" dirty="0"/>
              <a:t> – </a:t>
            </a:r>
            <a:r>
              <a:rPr lang="en-IN" sz="2400" dirty="0"/>
              <a:t>Keep Systems Working</a:t>
            </a:r>
          </a:p>
          <a:p>
            <a:pPr lvl="1" algn="l"/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222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5BFD6-05D4-4C5A-9169-C61F5AACE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Confidentiality </a:t>
            </a:r>
            <a:br>
              <a:rPr lang="en-GB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4AD9E-5C27-4597-AE4C-8EB46D152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1216" y="1371600"/>
            <a:ext cx="10589565" cy="432855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Make sure only the </a:t>
            </a:r>
            <a:r>
              <a:rPr lang="en-US" b="1" dirty="0"/>
              <a:t>right people</a:t>
            </a:r>
            <a:r>
              <a:rPr lang="en-US" dirty="0"/>
              <a:t> can access the information.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Examples: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Passwords protect your email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Encryption protects WhatsApp chats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OTP prevents others from using your bank account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If confidentiality is broken → </a:t>
            </a:r>
            <a:r>
              <a:rPr lang="en-US" b="1" dirty="0"/>
              <a:t>Data leak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677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DB65-BD7F-4E71-B950-880CB6C50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pPr algn="just"/>
            <a:r>
              <a:rPr lang="en-GB" dirty="0"/>
              <a:t>Confidentiality -Real-world example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8DE81-1923-4258-9C58-226898675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2003385"/>
            <a:ext cx="10907395" cy="2851230"/>
          </a:xfrm>
        </p:spPr>
        <p:txBody>
          <a:bodyPr/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dirty="0"/>
              <a:t>A hacker tries to steal your UPI PIN.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dirty="0"/>
              <a:t>Because of encryption, even if the data is captured, the hacker </a:t>
            </a:r>
            <a:r>
              <a:rPr lang="en-GB" b="1" dirty="0"/>
              <a:t>cannot read it</a:t>
            </a:r>
            <a:r>
              <a:rPr lang="en-GB" dirty="0"/>
              <a:t>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dirty="0"/>
              <a:t>Google Pay / </a:t>
            </a:r>
            <a:r>
              <a:rPr lang="en-GB" dirty="0" err="1"/>
              <a:t>PhonePe</a:t>
            </a:r>
            <a:r>
              <a:rPr lang="en-GB" dirty="0"/>
              <a:t> ensures only the bank and you can see the real PIN.</a:t>
            </a:r>
          </a:p>
          <a:p>
            <a:pPr algn="just"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4613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CD83B-B054-4CD4-9FA3-30A1AE4D5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r>
              <a:rPr lang="en-IN" dirty="0"/>
              <a:t>Integrity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C059A-8C4E-4965-8802-0B1A9D27D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4443" y="1600200"/>
            <a:ext cx="10907395" cy="432855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Ensure data is </a:t>
            </a:r>
            <a:r>
              <a:rPr lang="en-US" b="1" dirty="0"/>
              <a:t>not changed, damaged, or tampered</a:t>
            </a:r>
            <a:r>
              <a:rPr lang="en-US" dirty="0"/>
              <a:t> with by anyone.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Examples: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A hacker modifying exam marks → Integrity attack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Digital signatures verify that a file is unchanged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Hash values ensure a downloaded file is original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If integrity is broken → </a:t>
            </a:r>
            <a:r>
              <a:rPr lang="en-US" b="1" dirty="0"/>
              <a:t>Fake or altered data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154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326C8-DEB3-437A-AB19-1DC7FD5E4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861774"/>
          </a:xfrm>
        </p:spPr>
        <p:txBody>
          <a:bodyPr/>
          <a:lstStyle/>
          <a:p>
            <a:r>
              <a:rPr lang="en-IN" dirty="0"/>
              <a:t>Integrity - </a:t>
            </a:r>
            <a:r>
              <a:rPr lang="en-GB" dirty="0"/>
              <a:t>Real-world example</a:t>
            </a:r>
            <a:br>
              <a:rPr lang="en-GB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5AEA-6978-4822-9F8C-9EAF275B9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635" y="1692529"/>
            <a:ext cx="10907395" cy="437472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Imagine a bank database: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Your balance: </a:t>
            </a:r>
            <a:r>
              <a:rPr lang="en-GB" b="1" dirty="0"/>
              <a:t>₹20,000</a:t>
            </a:r>
            <a:endParaRPr lang="en-GB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If a hacker modifies it to </a:t>
            </a:r>
            <a:r>
              <a:rPr lang="en-GB" b="1" dirty="0"/>
              <a:t>₹2,00,000</a:t>
            </a:r>
            <a:r>
              <a:rPr lang="en-GB" dirty="0"/>
              <a:t>, that is a </a:t>
            </a:r>
            <a:r>
              <a:rPr lang="en-GB" b="1" dirty="0"/>
              <a:t>loss of integrity</a:t>
            </a:r>
            <a:r>
              <a:rPr lang="en-GB" dirty="0"/>
              <a:t>.</a:t>
            </a:r>
          </a:p>
          <a:p>
            <a:pPr>
              <a:lnSpc>
                <a:spcPct val="150000"/>
              </a:lnSpc>
            </a:pPr>
            <a:r>
              <a:rPr lang="en-GB" dirty="0"/>
              <a:t>Integrity mechanisms detect: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Unauthorized modification attempt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Mismatch in hashing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Abnormal transactions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4481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E4F8-EDCA-41E4-8196-245FB54FA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r>
              <a:rPr lang="en-GB" dirty="0"/>
              <a:t>Availability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CDA16-AF05-46D6-8DAF-C779316A9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635" y="1692529"/>
            <a:ext cx="10907395" cy="432855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Make sure systems and data are </a:t>
            </a:r>
            <a:r>
              <a:rPr lang="en-US" b="1" dirty="0"/>
              <a:t>available whenever users need them</a:t>
            </a:r>
            <a:r>
              <a:rPr lang="en-US" dirty="0"/>
              <a:t>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Examples: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Websites running 24/7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Backups during server failure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DDoS protection to prevent websites from going down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If availability is broken → </a:t>
            </a:r>
            <a:r>
              <a:rPr lang="en-US" b="1" dirty="0"/>
              <a:t>System downtime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7808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745D-67AB-4211-92D5-7CB2E0A10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861774"/>
          </a:xfrm>
        </p:spPr>
        <p:txBody>
          <a:bodyPr/>
          <a:lstStyle/>
          <a:p>
            <a:r>
              <a:rPr lang="en-GB" dirty="0"/>
              <a:t>Availability - Real-world example</a:t>
            </a:r>
            <a:br>
              <a:rPr lang="en-GB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659A7-4F6B-4C08-A454-4EC4967A6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151815"/>
            <a:ext cx="10907395" cy="5067221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dirty="0"/>
              <a:t>A hospital needs access to patient records 24/7.</a:t>
            </a:r>
          </a:p>
          <a:p>
            <a:pPr algn="ctr">
              <a:lnSpc>
                <a:spcPct val="200000"/>
              </a:lnSpc>
            </a:pPr>
            <a:r>
              <a:rPr lang="en-GB" dirty="0"/>
              <a:t> </a:t>
            </a:r>
            <a:r>
              <a:rPr lang="en-GB" b="1" dirty="0"/>
              <a:t>If a ransomware attack locks the system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dirty="0"/>
              <a:t>Doctors cannot access data , Emergency treatments stop and Operations get delayed</a:t>
            </a:r>
          </a:p>
          <a:p>
            <a:pPr>
              <a:lnSpc>
                <a:spcPct val="200000"/>
              </a:lnSpc>
            </a:pPr>
            <a:r>
              <a:rPr lang="en-GB" b="1" dirty="0"/>
              <a:t>With proper cybersecurity: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dirty="0"/>
              <a:t>Backups restore data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dirty="0"/>
              <a:t>DDoS protection keeps servers online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dirty="0"/>
              <a:t>Firewall blocks malicious traffic</a:t>
            </a:r>
          </a:p>
        </p:txBody>
      </p:sp>
    </p:spTree>
    <p:extLst>
      <p:ext uri="{BB962C8B-B14F-4D97-AF65-F5344CB8AC3E}">
        <p14:creationId xmlns:p14="http://schemas.microsoft.com/office/powerpoint/2010/main" val="4103448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AEB8-1CCE-2618-043D-96BA11D0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Attack?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7A1CD-F79C-7DCE-D22C-937C0E8E5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3120"/>
            <a:ext cx="11443030" cy="5067221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An </a:t>
            </a:r>
            <a:r>
              <a:rPr lang="en-US" b="1" dirty="0"/>
              <a:t>attack</a:t>
            </a:r>
            <a:r>
              <a:rPr lang="en-US" dirty="0"/>
              <a:t> is any attempt to break, damage, or steal data from a system.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A hacker trying to enter your computer = someone trying to break into your locked house.</a:t>
            </a:r>
            <a:endParaRPr lang="en-US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If they try to </a:t>
            </a:r>
            <a:r>
              <a:rPr lang="en-US" b="1" dirty="0"/>
              <a:t>open the door</a:t>
            </a:r>
            <a:r>
              <a:rPr lang="en-US" dirty="0"/>
              <a:t> → trying to access your system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If they </a:t>
            </a:r>
            <a:r>
              <a:rPr lang="en-US" b="1" dirty="0"/>
              <a:t>break your furniture</a:t>
            </a:r>
            <a:r>
              <a:rPr lang="en-US" dirty="0"/>
              <a:t> → damaging your data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If they </a:t>
            </a:r>
            <a:r>
              <a:rPr lang="en-US" b="1" dirty="0"/>
              <a:t>steal your valuables</a:t>
            </a:r>
            <a:r>
              <a:rPr lang="en-US" dirty="0"/>
              <a:t> → stealing your information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That is exactly what happens in the cyber world.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821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B0804-F44E-498A-D4C2-0BABF3522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Attacks</a:t>
            </a:r>
            <a:br>
              <a:rPr lang="en-IN" dirty="0"/>
            </a:b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056A40-2725-5B68-DABE-FCBCBBA068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6398" y="1828800"/>
            <a:ext cx="7343677" cy="294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Phishing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→ Fake emails to steal passwords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Ransomware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→ Locking your files and asking for money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DDoS Attack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→ Making a website crash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Malware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→ Harmful software placed in your system</a:t>
            </a:r>
          </a:p>
        </p:txBody>
      </p:sp>
    </p:spTree>
    <p:extLst>
      <p:ext uri="{BB962C8B-B14F-4D97-AF65-F5344CB8AC3E}">
        <p14:creationId xmlns:p14="http://schemas.microsoft.com/office/powerpoint/2010/main" val="1049632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15DEA-70AA-8E90-8FBF-98AD68B72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r>
              <a:rPr lang="en-US" dirty="0"/>
              <a:t>Real-Time Attack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E8FD5-A9EB-B90F-137E-939D75DBA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4443" y="1447800"/>
            <a:ext cx="10907395" cy="5067221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WannaCry Ransomware – 2017</a:t>
            </a:r>
            <a:br>
              <a:rPr lang="en-US" dirty="0"/>
            </a:br>
            <a:r>
              <a:rPr lang="en-US" dirty="0"/>
              <a:t>– Infected 200,000 computers globally</a:t>
            </a:r>
            <a:br>
              <a:rPr lang="en-US" dirty="0"/>
            </a:br>
            <a:r>
              <a:rPr lang="en-US" dirty="0"/>
              <a:t>– Locked files and demanded Bitcoin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Facebook Data Breach – 2018</a:t>
            </a:r>
            <a:br>
              <a:rPr lang="en-US" dirty="0"/>
            </a:br>
            <a:r>
              <a:rPr lang="en-US" dirty="0"/>
              <a:t>– 50 million accounts affected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SBI Server Leak – India</a:t>
            </a:r>
            <a:br>
              <a:rPr lang="en-US" dirty="0"/>
            </a:br>
            <a:r>
              <a:rPr lang="en-US" dirty="0"/>
              <a:t>– 3 million customer data exposed</a:t>
            </a:r>
          </a:p>
        </p:txBody>
      </p:sp>
    </p:spTree>
    <p:extLst>
      <p:ext uri="{BB962C8B-B14F-4D97-AF65-F5344CB8AC3E}">
        <p14:creationId xmlns:p14="http://schemas.microsoft.com/office/powerpoint/2010/main" val="387521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E0D6D9-6102-7D52-FE61-284D0C3FD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96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EC728C-DEB3-AD1E-4441-7BD1F021B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928687"/>
            <a:ext cx="860107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53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32DAA8-E301-588B-4C8F-B91EDDBAF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6667" r="-4074"/>
          <a:stretch>
            <a:fillRect/>
          </a:stretch>
        </p:blipFill>
        <p:spPr>
          <a:xfrm>
            <a:off x="1066800" y="1524000"/>
            <a:ext cx="107061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369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AAAD1-C390-84D5-CB81-5E2689B6D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AI (Artificial Intelligence)?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3411C-4847-0372-1289-9E59DDBAB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635" y="1692529"/>
            <a:ext cx="10907395" cy="4328557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AI is a technology that enables machines to </a:t>
            </a:r>
            <a:r>
              <a:rPr lang="en-US" b="1" dirty="0"/>
              <a:t>think, learn, and make decisions</a:t>
            </a:r>
            <a:r>
              <a:rPr lang="en-US" dirty="0"/>
              <a:t> like humans.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Examples:</a:t>
            </a:r>
            <a:br>
              <a:rPr lang="en-US" dirty="0"/>
            </a:br>
            <a:r>
              <a:rPr lang="en-US" dirty="0"/>
              <a:t>– Siri / Alexa</a:t>
            </a:r>
            <a:br>
              <a:rPr lang="en-US" dirty="0"/>
            </a:br>
            <a:r>
              <a:rPr lang="en-US" dirty="0"/>
              <a:t>– Google Maps traffic prediction</a:t>
            </a:r>
            <a:br>
              <a:rPr lang="en-US" dirty="0"/>
            </a:br>
            <a:r>
              <a:rPr lang="en-US" dirty="0"/>
              <a:t>– ChatGPT</a:t>
            </a:r>
          </a:p>
        </p:txBody>
      </p:sp>
    </p:spTree>
    <p:extLst>
      <p:ext uri="{BB962C8B-B14F-4D97-AF65-F5344CB8AC3E}">
        <p14:creationId xmlns:p14="http://schemas.microsoft.com/office/powerpoint/2010/main" val="1479341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2CF15-7E5E-DB3B-73CA-B8483705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 of AI in Cyber Security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0F12B-C3D6-E6CD-7BDB-CC13426A5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635" y="1692529"/>
            <a:ext cx="10907395" cy="437472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AI helps in:</a:t>
            </a:r>
            <a:br>
              <a:rPr lang="en-IN" dirty="0"/>
            </a:br>
            <a:r>
              <a:rPr lang="en-IN" dirty="0"/>
              <a:t>✔ Detecting threats automatically</a:t>
            </a:r>
            <a:br>
              <a:rPr lang="en-IN" dirty="0"/>
            </a:br>
            <a:r>
              <a:rPr lang="en-IN" dirty="0"/>
              <a:t>✔ Identifying anomalies</a:t>
            </a:r>
            <a:br>
              <a:rPr lang="en-IN" dirty="0"/>
            </a:br>
            <a:r>
              <a:rPr lang="en-IN" dirty="0"/>
              <a:t>✔ Reducing human workload</a:t>
            </a:r>
            <a:br>
              <a:rPr lang="en-IN" dirty="0"/>
            </a:br>
            <a:r>
              <a:rPr lang="en-IN" dirty="0"/>
              <a:t>✔ Real-time monitoring at scale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AI detects unusual login from China → sends alert → temporarily blocks access.</a:t>
            </a:r>
          </a:p>
        </p:txBody>
      </p:sp>
    </p:spTree>
    <p:extLst>
      <p:ext uri="{BB962C8B-B14F-4D97-AF65-F5344CB8AC3E}">
        <p14:creationId xmlns:p14="http://schemas.microsoft.com/office/powerpoint/2010/main" val="1463149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851A4D-0768-77DF-3123-4FD7FDE9A106}"/>
              </a:ext>
            </a:extLst>
          </p:cNvPr>
          <p:cNvSpPr txBox="1"/>
          <p:nvPr/>
        </p:nvSpPr>
        <p:spPr>
          <a:xfrm>
            <a:off x="685800" y="990600"/>
            <a:ext cx="11201400" cy="380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006600"/>
                </a:solidFill>
                <a:latin typeface="+mn-lt"/>
              </a:rPr>
              <a:t>What is Machine Learning (ML)?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+mn-lt"/>
              </a:rPr>
              <a:t>ML is a subset of AI where systems </a:t>
            </a:r>
            <a:r>
              <a:rPr lang="en-US" sz="2400" b="1" dirty="0">
                <a:latin typeface="+mn-lt"/>
              </a:rPr>
              <a:t>learn from data</a:t>
            </a:r>
            <a:r>
              <a:rPr lang="en-US" sz="2400" dirty="0">
                <a:latin typeface="+mn-lt"/>
              </a:rPr>
              <a:t> without being explicitly programmed.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+mn-lt"/>
              </a:rPr>
              <a:t>Simple Example: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Email learns which messages are spam → automatically filters them.</a:t>
            </a:r>
          </a:p>
        </p:txBody>
      </p:sp>
    </p:spTree>
    <p:extLst>
      <p:ext uri="{BB962C8B-B14F-4D97-AF65-F5344CB8AC3E}">
        <p14:creationId xmlns:p14="http://schemas.microsoft.com/office/powerpoint/2010/main" val="855361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B28B8-D616-F70D-53AE-CA7129F8F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 of ML in Cyber Security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B2642-8FD5-D58B-B758-89E55FB3F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635" y="1692529"/>
            <a:ext cx="10907395" cy="437472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✔ Spam detection</a:t>
            </a:r>
            <a:br>
              <a:rPr lang="en-IN" dirty="0"/>
            </a:br>
            <a:r>
              <a:rPr lang="en-IN" dirty="0"/>
              <a:t>✔ Fraud detection</a:t>
            </a:r>
            <a:br>
              <a:rPr lang="en-IN" dirty="0"/>
            </a:br>
            <a:r>
              <a:rPr lang="en-IN" dirty="0"/>
              <a:t>✔ Malware classification</a:t>
            </a:r>
            <a:br>
              <a:rPr lang="en-IN" dirty="0"/>
            </a:br>
            <a:r>
              <a:rPr lang="en-IN" dirty="0"/>
              <a:t>✔ Network anomaly detection</a:t>
            </a:r>
            <a:br>
              <a:rPr lang="en-IN" dirty="0"/>
            </a:br>
            <a:r>
              <a:rPr lang="en-IN" dirty="0"/>
              <a:t>✔ Predicting risky users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Scenario:</a:t>
            </a:r>
            <a:br>
              <a:rPr lang="en-IN" dirty="0"/>
            </a:br>
            <a:r>
              <a:rPr lang="en-IN" dirty="0"/>
              <a:t>A bank ML model detects </a:t>
            </a:r>
            <a:r>
              <a:rPr lang="en-IN" b="1" dirty="0"/>
              <a:t>unusual ₹50,000 transfer at midnight</a:t>
            </a:r>
            <a:r>
              <a:rPr lang="en-IN" dirty="0"/>
              <a:t> and blocks the transaction.</a:t>
            </a:r>
          </a:p>
        </p:txBody>
      </p:sp>
    </p:spTree>
    <p:extLst>
      <p:ext uri="{BB962C8B-B14F-4D97-AF65-F5344CB8AC3E}">
        <p14:creationId xmlns:p14="http://schemas.microsoft.com/office/powerpoint/2010/main" val="1609043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47CB0-6E1A-EE92-C759-BF100695F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Deep Learning?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F967D-FFFC-C7AF-EE0D-2B17B02A4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635" y="1692529"/>
            <a:ext cx="10907395" cy="432855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Deep Learning is an advanced type of ML using </a:t>
            </a:r>
            <a:r>
              <a:rPr lang="en-US" b="1" dirty="0"/>
              <a:t>neural networks with many layers</a:t>
            </a:r>
            <a:r>
              <a:rPr lang="en-US" dirty="0"/>
              <a:t>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Works Like:</a:t>
            </a:r>
            <a:r>
              <a:rPr lang="en-US" dirty="0"/>
              <a:t> A simplified human brain model.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Used In:</a:t>
            </a:r>
            <a:br>
              <a:rPr lang="en-US" dirty="0"/>
            </a:br>
            <a:r>
              <a:rPr lang="en-US" dirty="0"/>
              <a:t>– Facial recognition</a:t>
            </a:r>
            <a:br>
              <a:rPr lang="en-US" dirty="0"/>
            </a:br>
            <a:r>
              <a:rPr lang="en-US" dirty="0"/>
              <a:t>– Speech detection</a:t>
            </a:r>
            <a:br>
              <a:rPr lang="en-US" dirty="0"/>
            </a:br>
            <a:r>
              <a:rPr lang="en-US" dirty="0"/>
              <a:t>– Self-driving cars</a:t>
            </a:r>
          </a:p>
        </p:txBody>
      </p:sp>
    </p:spTree>
    <p:extLst>
      <p:ext uri="{BB962C8B-B14F-4D97-AF65-F5344CB8AC3E}">
        <p14:creationId xmlns:p14="http://schemas.microsoft.com/office/powerpoint/2010/main" val="4165184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2C4C6-0044-A15E-33D7-599D3D96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Deep Learning in Cyber Security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5806E-6DB6-97E0-B2C9-A3B68B4EA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635" y="1692529"/>
            <a:ext cx="10907395" cy="580588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✔ Detects sophisticated attacks</a:t>
            </a:r>
            <a:br>
              <a:rPr lang="en-US" dirty="0"/>
            </a:br>
            <a:r>
              <a:rPr lang="en-US" dirty="0"/>
              <a:t>✔ Identifies unknown malware</a:t>
            </a:r>
            <a:br>
              <a:rPr lang="en-US" dirty="0"/>
            </a:br>
            <a:r>
              <a:rPr lang="en-US" dirty="0"/>
              <a:t>✔ Analyses millions of logs in seconds</a:t>
            </a:r>
            <a:br>
              <a:rPr lang="en-US" dirty="0"/>
            </a:br>
            <a:r>
              <a:rPr lang="en-US" dirty="0"/>
              <a:t>✔ Behavioral-based authentication</a:t>
            </a:r>
          </a:p>
          <a:p>
            <a:pPr>
              <a:lnSpc>
                <a:spcPct val="200000"/>
              </a:lnSpc>
            </a:pPr>
            <a:r>
              <a:rPr lang="en-US" b="1" dirty="0"/>
              <a:t>Real Example:</a:t>
            </a:r>
            <a:br>
              <a:rPr lang="en-US" dirty="0"/>
            </a:br>
            <a:r>
              <a:rPr lang="en-US" dirty="0"/>
              <a:t>A DL model detects an employee who never works late suddenly downloading 200GB data → insider threat alert.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3578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r>
              <a:t>What is Kali Linux?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907395" cy="2112566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A Debian-based operating system.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Designed for cybersecurity and penetration testing.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Used for ethical hacking and digital forensics.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27E43-12F1-E618-A322-DE81777F2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r>
              <a:rPr lang="en-IN" dirty="0"/>
              <a:t>Linux vs Windows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11178-C0B9-FA5F-101F-D15EB0ADC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1577340"/>
            <a:ext cx="5532120" cy="49287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6600"/>
                </a:solidFill>
              </a:rPr>
              <a:t>Linux</a:t>
            </a:r>
            <a:endParaRPr lang="en-US" dirty="0">
              <a:solidFill>
                <a:srgbClr val="00660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Free and open-source 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Highly secure with strong permissions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Fast, lightweight, and customizable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Best for developers, servers, and cybersecurity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Uses a powerful terminal-based workflow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Very stable with fewer viruses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AAC5B-5176-1DA3-0C84-0AD412E58359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050280" y="1577340"/>
            <a:ext cx="5913120" cy="49287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6600"/>
                </a:solidFill>
              </a:rPr>
              <a:t>Windows</a:t>
            </a:r>
            <a:endParaRPr lang="en-US" dirty="0">
              <a:solidFill>
                <a:srgbClr val="00660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Paid, closed-source 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More vulnerable to malware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Heavy, resource-intensive, less customizable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Best for general users and gaming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Limited command-line (requires extra tools)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Updates and system processes often slow performance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6946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r>
              <a:t>Why Kali Linux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635" y="1692529"/>
            <a:ext cx="10907395" cy="2112566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Includes 600+ pre-installed security tools.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Used in cybersecurity labs and industry.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Ideal for vulnerability testing and auditing.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635" y="1692529"/>
            <a:ext cx="10907395" cy="2112566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Lightweight, customizable, open-source.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Supports live boot and virtual machines.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Perfect for network and application testing.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r>
              <a:t>Popular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635" y="1692529"/>
            <a:ext cx="10907395" cy="2851230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Nmap – Network scanning.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Metasploit – Exploitation framework.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Wireshark – Packet analysis.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Burp Suite – Web testing.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r>
              <a:t>Who Uses Kali Linux?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635" y="1692529"/>
            <a:ext cx="10907395" cy="2851230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Cybersecurity professionals.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Ethical hackers and penetration testers.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Security researchers and students.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dirty="0"/>
              <a:t>Digital forensics teams.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A5BC81-D045-9CEB-7328-0EBA40A6743D}"/>
              </a:ext>
            </a:extLst>
          </p:cNvPr>
          <p:cNvSpPr txBox="1"/>
          <p:nvPr/>
        </p:nvSpPr>
        <p:spPr>
          <a:xfrm>
            <a:off x="990600" y="485502"/>
            <a:ext cx="11049000" cy="588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2400" b="1" dirty="0">
                <a:solidFill>
                  <a:srgbClr val="006600"/>
                </a:solidFill>
              </a:rPr>
              <a:t>What is a Command in Kali Linux?</a:t>
            </a:r>
          </a:p>
          <a:p>
            <a:pPr>
              <a:lnSpc>
                <a:spcPct val="200000"/>
              </a:lnSpc>
              <a:buNone/>
            </a:pPr>
            <a:r>
              <a:rPr lang="en-US" sz="2400" dirty="0"/>
              <a:t>Commands are typed in the </a:t>
            </a:r>
            <a:r>
              <a:rPr lang="en-US" sz="2400" b="1" dirty="0"/>
              <a:t>Terminal</a:t>
            </a:r>
            <a:r>
              <a:rPr lang="en-US" sz="2400" dirty="0"/>
              <a:t> and executed directly by the system.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listing files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creating folders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scanning networks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checking IP address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running hacking tools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installing software</a:t>
            </a:r>
          </a:p>
        </p:txBody>
      </p:sp>
    </p:spTree>
    <p:extLst>
      <p:ext uri="{BB962C8B-B14F-4D97-AF65-F5344CB8AC3E}">
        <p14:creationId xmlns:p14="http://schemas.microsoft.com/office/powerpoint/2010/main" val="968512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92443"/>
          </a:xfrm>
        </p:spPr>
        <p:txBody>
          <a:bodyPr/>
          <a:lstStyle/>
          <a:p>
            <a:r>
              <a:rPr sz="3200" dirty="0" err="1"/>
              <a:t>whoami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443" y="1295400"/>
            <a:ext cx="10907395" cy="73866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dirty="0"/>
              <a:t>Shows current logged-in user.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69CA6-00D2-D807-EEDB-3D61F703CC46}"/>
              </a:ext>
            </a:extLst>
          </p:cNvPr>
          <p:cNvSpPr txBox="1"/>
          <p:nvPr/>
        </p:nvSpPr>
        <p:spPr>
          <a:xfrm>
            <a:off x="870030" y="26670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6600"/>
                </a:solidFill>
                <a:latin typeface="+mj-lt"/>
              </a:rPr>
              <a:t>hostname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3DAD99-1155-B4A7-1AEF-3901CC6169DE}"/>
              </a:ext>
            </a:extLst>
          </p:cNvPr>
          <p:cNvSpPr txBox="1"/>
          <p:nvPr/>
        </p:nvSpPr>
        <p:spPr>
          <a:xfrm>
            <a:off x="904443" y="342900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IN" sz="2400" dirty="0"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+mn-lt"/>
              </a:rPr>
              <a:t>Displays system's hostname.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92443"/>
          </a:xfrm>
        </p:spPr>
        <p:txBody>
          <a:bodyPr/>
          <a:lstStyle/>
          <a:p>
            <a:r>
              <a:rPr sz="3200" dirty="0">
                <a:latin typeface="+mj-lt"/>
              </a:rPr>
              <a:t>cd / ~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7404" y="1447800"/>
            <a:ext cx="10907395" cy="1604735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dirty="0"/>
              <a:t>cd: change directory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dirty="0"/>
              <a:t>~: home directory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dirty="0"/>
              <a:t>/: root directory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E0215E-2A79-78BB-6D33-D0301CC36E39}"/>
              </a:ext>
            </a:extLst>
          </p:cNvPr>
          <p:cNvSpPr txBox="1"/>
          <p:nvPr/>
        </p:nvSpPr>
        <p:spPr>
          <a:xfrm>
            <a:off x="904443" y="3886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6600"/>
                </a:solidFill>
              </a:rPr>
              <a:t>ls / ls -l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41F5E-8444-3B8F-CC4E-082A8B72793F}"/>
              </a:ext>
            </a:extLst>
          </p:cNvPr>
          <p:cNvSpPr txBox="1"/>
          <p:nvPr/>
        </p:nvSpPr>
        <p:spPr>
          <a:xfrm>
            <a:off x="936398" y="4343400"/>
            <a:ext cx="6096000" cy="1685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ls: list files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ls -l: detailed list with permissions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r>
              <a:rPr dirty="0" err="1"/>
              <a:t>pwd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108" y="1384341"/>
            <a:ext cx="10907395" cy="36933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dirty="0"/>
              <a:t>Prints current working directory.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5C497-072F-31B9-1823-E7FAD92A971F}"/>
              </a:ext>
            </a:extLst>
          </p:cNvPr>
          <p:cNvSpPr txBox="1"/>
          <p:nvPr/>
        </p:nvSpPr>
        <p:spPr>
          <a:xfrm>
            <a:off x="838200" y="274399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6600"/>
                </a:solidFill>
              </a:rPr>
              <a:t>touch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E22DE8-4D5C-B9DC-9AFD-EFF813397F0E}"/>
              </a:ext>
            </a:extLst>
          </p:cNvPr>
          <p:cNvSpPr txBox="1"/>
          <p:nvPr/>
        </p:nvSpPr>
        <p:spPr>
          <a:xfrm>
            <a:off x="838200" y="34290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Creates empty file or updates timestamp.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70687" y="4643943"/>
            <a:ext cx="1038311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IN"/>
              <a:t>echo</a:t>
            </a:r>
            <a:endParaRPr lang="en-IN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90352" y="5074830"/>
            <a:ext cx="10907395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400" b="0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endParaRPr lang="en-IN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/>
              <a:t>Prints text to terminal.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r>
              <a:t>rm / rm -r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635" y="1692529"/>
            <a:ext cx="10907395" cy="73866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dirty="0"/>
              <a:t>rm: removes files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dirty="0"/>
              <a:t>rm -r: removes folders recursively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48590" y="2971907"/>
            <a:ext cx="1038311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IN"/>
              <a:t>cp</a:t>
            </a:r>
            <a:endParaRPr lang="en-IN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916635" y="3402794"/>
            <a:ext cx="10907395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400" b="0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endParaRPr lang="en-IN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/>
              <a:t>Copies files or folders.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60880" y="4800600"/>
            <a:ext cx="1038311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IN"/>
              <a:t>mv</a:t>
            </a:r>
            <a:endParaRPr lang="en-IN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16733" y="5122468"/>
            <a:ext cx="10907395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400" b="0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endParaRPr lang="en-US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/>
              <a:t>Move or rename file/folder.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2219" y="914400"/>
            <a:ext cx="10383113" cy="430887"/>
          </a:xfrm>
        </p:spPr>
        <p:txBody>
          <a:bodyPr/>
          <a:lstStyle/>
          <a:p>
            <a:r>
              <a:rPr dirty="0" err="1"/>
              <a:t>mkdir</a:t>
            </a:r>
            <a:r>
              <a:rPr dirty="0"/>
              <a:t> / </a:t>
            </a:r>
            <a:r>
              <a:rPr dirty="0" err="1"/>
              <a:t>rmdir</a:t>
            </a:r>
            <a:r>
              <a:rPr lang="en-US" dirty="0"/>
              <a:t>  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9024" y="1447800"/>
            <a:ext cx="10907395" cy="1050737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dirty="0" err="1"/>
              <a:t>mkdir</a:t>
            </a:r>
            <a:r>
              <a:rPr dirty="0"/>
              <a:t>: create directory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dirty="0" err="1"/>
              <a:t>rmdir</a:t>
            </a:r>
            <a:r>
              <a:rPr dirty="0"/>
              <a:t>: remove empty directory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42219" y="2819400"/>
            <a:ext cx="1038311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IN" dirty="0"/>
              <a:t>Sudo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D15C5-C05C-13C5-9CEB-7BC29201BC80}"/>
              </a:ext>
            </a:extLst>
          </p:cNvPr>
          <p:cNvSpPr txBox="1"/>
          <p:nvPr/>
        </p:nvSpPr>
        <p:spPr>
          <a:xfrm>
            <a:off x="1042219" y="315565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+mn-lt"/>
              </a:rPr>
              <a:t>Run command as superuser.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042218" y="4144020"/>
            <a:ext cx="1038311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IN"/>
              <a:t>apt update/upgrade/install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010263" y="4747027"/>
            <a:ext cx="10907395" cy="1604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400" b="0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update: refresh package list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upgrade: upgrade packages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install: install new package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r>
              <a:rPr dirty="0" err="1"/>
              <a:t>chmod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443" y="1447800"/>
            <a:ext cx="10907395" cy="36933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dirty="0"/>
              <a:t>Change file permissions.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04443" y="2362200"/>
            <a:ext cx="10383113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IN"/>
              <a:t>permissions</a:t>
            </a:r>
            <a:endParaRPr lang="en-IN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904443" y="3124200"/>
            <a:ext cx="10907395" cy="21587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400" b="0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r = read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w = write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x = execute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Example: </a:t>
            </a:r>
            <a:r>
              <a:rPr lang="en-IN" dirty="0" err="1"/>
              <a:t>rw</a:t>
            </a:r>
            <a:r>
              <a:rPr lang="en-IN" dirty="0"/>
              <a:t>-r--r--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r>
              <a:t>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359" y="1447800"/>
            <a:ext cx="10907395" cy="3266728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b="1" dirty="0"/>
              <a:t>ipconfig: </a:t>
            </a:r>
            <a:r>
              <a:rPr dirty="0"/>
              <a:t>Windows command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b="1" dirty="0" err="1"/>
              <a:t>ip</a:t>
            </a:r>
            <a:r>
              <a:rPr b="1" dirty="0"/>
              <a:t> a: </a:t>
            </a:r>
            <a:r>
              <a:rPr dirty="0"/>
              <a:t>show IP details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b="1" dirty="0"/>
              <a:t>eth0: </a:t>
            </a:r>
            <a:r>
              <a:rPr dirty="0"/>
              <a:t>ethernet interface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b="1" dirty="0"/>
              <a:t>lo: </a:t>
            </a:r>
            <a:r>
              <a:rPr dirty="0"/>
              <a:t>loopback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b="1" dirty="0"/>
              <a:t>ping: </a:t>
            </a:r>
            <a:r>
              <a:rPr dirty="0"/>
              <a:t>test connectivity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10E066-700E-6854-2911-184503049E8D}"/>
              </a:ext>
            </a:extLst>
          </p:cNvPr>
          <p:cNvSpPr txBox="1"/>
          <p:nvPr/>
        </p:nvSpPr>
        <p:spPr>
          <a:xfrm>
            <a:off x="4495800" y="3075057"/>
            <a:ext cx="510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THANK YOU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696170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874</TotalTime>
  <Words>1385</Words>
  <Application>Microsoft Office PowerPoint</Application>
  <PresentationFormat>Widescreen</PresentationFormat>
  <Paragraphs>208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Wingdings</vt:lpstr>
      <vt:lpstr>Office Theme</vt:lpstr>
      <vt:lpstr> Cybersecurity</vt:lpstr>
      <vt:lpstr>What is in Cybersecurity? </vt:lpstr>
      <vt:lpstr>Why Should You Learn Cyber Security? </vt:lpstr>
      <vt:lpstr>PowerPoint Presentation</vt:lpstr>
      <vt:lpstr>What is Security? </vt:lpstr>
      <vt:lpstr>Types of Security </vt:lpstr>
      <vt:lpstr>PowerPoint Presentation</vt:lpstr>
      <vt:lpstr>CIA Triad (Confidentiality, Integrity, Availability)</vt:lpstr>
      <vt:lpstr>Confidentiality  </vt:lpstr>
      <vt:lpstr>Confidentiality -Real-world example</vt:lpstr>
      <vt:lpstr>Integrity</vt:lpstr>
      <vt:lpstr>Integrity - Real-world example </vt:lpstr>
      <vt:lpstr>Availability</vt:lpstr>
      <vt:lpstr>Availability - Real-world example </vt:lpstr>
      <vt:lpstr>What is an Attack? </vt:lpstr>
      <vt:lpstr>Types of Attacks </vt:lpstr>
      <vt:lpstr>Real-Time Attack </vt:lpstr>
      <vt:lpstr>PowerPoint Presentation</vt:lpstr>
      <vt:lpstr>PowerPoint Presentation</vt:lpstr>
      <vt:lpstr>PowerPoint Presentation</vt:lpstr>
      <vt:lpstr>What is AI (Artificial Intelligence)? </vt:lpstr>
      <vt:lpstr>Role of AI in Cyber Security </vt:lpstr>
      <vt:lpstr>PowerPoint Presentation</vt:lpstr>
      <vt:lpstr>Role of ML in Cyber Security </vt:lpstr>
      <vt:lpstr>What is Deep Learning? </vt:lpstr>
      <vt:lpstr>Role of Deep Learning in Cyber Security </vt:lpstr>
      <vt:lpstr>What is Kali Linux?</vt:lpstr>
      <vt:lpstr>Linux vs Windows </vt:lpstr>
      <vt:lpstr>Why Kali Linux Matters</vt:lpstr>
      <vt:lpstr>Key Features</vt:lpstr>
      <vt:lpstr>Popular Tools</vt:lpstr>
      <vt:lpstr>Who Uses Kali Linux?</vt:lpstr>
      <vt:lpstr>PowerPoint Presentation</vt:lpstr>
      <vt:lpstr>whoami</vt:lpstr>
      <vt:lpstr>cd / ~</vt:lpstr>
      <vt:lpstr>pwd</vt:lpstr>
      <vt:lpstr>rm / rm -r</vt:lpstr>
      <vt:lpstr>mkdir / rmdir   </vt:lpstr>
      <vt:lpstr>chmod</vt:lpstr>
      <vt:lpstr>network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</dc:creator>
  <cp:lastModifiedBy>jinu krishnan</cp:lastModifiedBy>
  <cp:revision>18</cp:revision>
  <dcterms:created xsi:type="dcterms:W3CDTF">2025-06-19T08:37:38Z</dcterms:created>
  <dcterms:modified xsi:type="dcterms:W3CDTF">2025-11-20T09:32:34Z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2025-06-19T00:00:00Z</vt:filetime>
  </property>
  <property fmtid="{D5CDD505-2E9C-101B-9397-08002B2CF9AE}" pid="5" name="Producer">
    <vt:lpwstr>Microsoft® PowerPoint® 2013</vt:lpwstr>
  </property>
</Properties>
</file>