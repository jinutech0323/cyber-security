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9" r:id="rId3"/>
    <p:sldId id="291" r:id="rId4"/>
    <p:sldId id="292" r:id="rId5"/>
    <p:sldId id="290" r:id="rId6"/>
    <p:sldId id="281" r:id="rId7"/>
    <p:sldId id="282" r:id="rId8"/>
    <p:sldId id="283" r:id="rId9"/>
    <p:sldId id="284" r:id="rId10"/>
    <p:sldId id="273" r:id="rId11"/>
    <p:sldId id="274" r:id="rId12"/>
    <p:sldId id="275" r:id="rId13"/>
    <p:sldId id="278" r:id="rId14"/>
    <p:sldId id="276" r:id="rId15"/>
    <p:sldId id="279" r:id="rId16"/>
    <p:sldId id="277" r:id="rId17"/>
    <p:sldId id="280" r:id="rId18"/>
    <p:sldId id="287" r:id="rId19"/>
    <p:sldId id="285" r:id="rId20"/>
    <p:sldId id="286" r:id="rId21"/>
    <p:sldId id="288" r:id="rId22"/>
    <p:sldId id="272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>
      <p:cViewPr varScale="1">
        <p:scale>
          <a:sx n="75" d="100"/>
          <a:sy n="75" d="100"/>
        </p:scale>
        <p:origin x="922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927" y="4750307"/>
            <a:ext cx="1894072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93" y="3115555"/>
            <a:ext cx="1725028" cy="4333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4631" y="216575"/>
            <a:ext cx="2099927" cy="52698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93" y="3115555"/>
            <a:ext cx="1725028" cy="4333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2505" y="3115555"/>
            <a:ext cx="1725028" cy="43337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2305" y="3115555"/>
            <a:ext cx="1725028" cy="4333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2007672" cy="217660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1833" y="3115555"/>
            <a:ext cx="1725028" cy="4333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09084" y="2466594"/>
            <a:ext cx="359473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97668" y="4750307"/>
            <a:ext cx="1894331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3023" y="3115055"/>
            <a:ext cx="1725168" cy="43433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14559" y="216408"/>
            <a:ext cx="2100072" cy="5273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2823" y="3115055"/>
            <a:ext cx="1725168" cy="43433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12435" y="3115055"/>
            <a:ext cx="1725167" cy="43433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2235" y="3115055"/>
            <a:ext cx="1725168" cy="4343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1764" y="3115055"/>
            <a:ext cx="1725168" cy="43433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2007108" cy="21762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882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321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2590800"/>
            <a:ext cx="9601200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5400" dirty="0"/>
              <a:t>Wireshark &amp; Nmap</a:t>
            </a:r>
            <a:endParaRPr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F6BDF0-7600-6151-179B-C0382D0B0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01729"/>
              </p:ext>
            </p:extLst>
          </p:nvPr>
        </p:nvGraphicFramePr>
        <p:xfrm>
          <a:off x="381000" y="1295400"/>
          <a:ext cx="11430000" cy="4571999"/>
        </p:xfrm>
        <a:graphic>
          <a:graphicData uri="http://schemas.openxmlformats.org/drawingml/2006/table">
            <a:tbl>
              <a:tblPr/>
              <a:tblGrid>
                <a:gridCol w="2021633">
                  <a:extLst>
                    <a:ext uri="{9D8B030D-6E8A-4147-A177-3AD203B41FA5}">
                      <a16:colId xmlns:a16="http://schemas.microsoft.com/office/drawing/2014/main" val="1007219245"/>
                    </a:ext>
                  </a:extLst>
                </a:gridCol>
                <a:gridCol w="4150567">
                  <a:extLst>
                    <a:ext uri="{9D8B030D-6E8A-4147-A177-3AD203B41FA5}">
                      <a16:colId xmlns:a16="http://schemas.microsoft.com/office/drawing/2014/main" val="18512820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45772512"/>
                    </a:ext>
                  </a:extLst>
                </a:gridCol>
              </a:tblGrid>
              <a:tr h="396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Layer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What it does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Real Life Example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838007"/>
                  </a:ext>
                </a:extLst>
              </a:tr>
              <a:tr h="502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7. Application</a:t>
                      </a:r>
                      <a:endParaRPr lang="en-IN" sz="1800"/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Apps use network (browser, WhatsApp)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You type a message in WhatsApp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747723"/>
                  </a:ext>
                </a:extLst>
              </a:tr>
              <a:tr h="72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6. Presentation</a:t>
                      </a:r>
                      <a:endParaRPr lang="en-IN" sz="1800"/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Encrypt/Decrypt, Format data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Message converted to readable emoji-friendly format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586745"/>
                  </a:ext>
                </a:extLst>
              </a:tr>
              <a:tr h="72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5. Session</a:t>
                      </a:r>
                      <a:endParaRPr lang="en-IN" sz="1800" dirty="0"/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Opens and maintains communication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Connection between you &amp; your friend stays active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793347"/>
                  </a:ext>
                </a:extLst>
              </a:tr>
              <a:tr h="721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4. Transport</a:t>
                      </a:r>
                      <a:endParaRPr lang="en-IN" sz="1800"/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Breaks data into packets, ensures delivery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Message broken into chunks and guaranteed to arrive (TCP)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969848"/>
                  </a:ext>
                </a:extLst>
              </a:tr>
              <a:tr h="502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3. Network</a:t>
                      </a:r>
                      <a:endParaRPr lang="en-IN" sz="1800"/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Finds best path (IP address)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GPS chooses route to your friend’s phone IP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800482"/>
                  </a:ext>
                </a:extLst>
              </a:tr>
              <a:tr h="502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2. Data Link</a:t>
                      </a:r>
                      <a:endParaRPr lang="en-IN" sz="1800"/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 address, packet to frames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Wi-Fi/router sends frames to correct device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783378"/>
                  </a:ext>
                </a:extLst>
              </a:tr>
              <a:tr h="502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1. Physical</a:t>
                      </a:r>
                      <a:endParaRPr lang="en-IN" sz="1800"/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Actual signal: wires, Wi-Fi, voltage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travels through Wi-Fi waves or cable</a:t>
                      </a:r>
                    </a:p>
                  </a:txBody>
                  <a:tcPr marL="60595" marR="60595" marT="30297" marB="302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0340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099EB3D-9802-CF4B-9371-55409316C6C7}"/>
              </a:ext>
            </a:extLst>
          </p:cNvPr>
          <p:cNvSpPr/>
          <p:nvPr/>
        </p:nvSpPr>
        <p:spPr>
          <a:xfrm>
            <a:off x="2667000" y="228599"/>
            <a:ext cx="4495800" cy="7620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OSI Model (7 Layers)</a:t>
            </a:r>
          </a:p>
        </p:txBody>
      </p:sp>
    </p:spTree>
    <p:extLst>
      <p:ext uri="{BB962C8B-B14F-4D97-AF65-F5344CB8AC3E}">
        <p14:creationId xmlns:p14="http://schemas.microsoft.com/office/powerpoint/2010/main" val="2343853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DA1DEF-4CD9-2849-7654-395FB6A2CA82}"/>
              </a:ext>
            </a:extLst>
          </p:cNvPr>
          <p:cNvSpPr txBox="1"/>
          <p:nvPr/>
        </p:nvSpPr>
        <p:spPr>
          <a:xfrm>
            <a:off x="838200" y="990600"/>
            <a:ext cx="8458200" cy="431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2000" b="1" dirty="0">
                <a:latin typeface="+mn-lt"/>
              </a:rPr>
              <a:t>Simple Story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You → </a:t>
            </a:r>
            <a:r>
              <a:rPr lang="en-IN" sz="2000" b="1" dirty="0">
                <a:latin typeface="+mn-lt"/>
              </a:rPr>
              <a:t>send message</a:t>
            </a:r>
            <a:endParaRPr lang="en-IN" sz="2000" dirty="0">
              <a:latin typeface="+mn-lt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OSI layers help the message </a:t>
            </a:r>
            <a:r>
              <a:rPr lang="en-IN" sz="2000" b="1" dirty="0">
                <a:latin typeface="+mn-lt"/>
              </a:rPr>
              <a:t>travel</a:t>
            </a:r>
            <a:endParaRPr lang="en-IN" sz="2000" dirty="0">
              <a:latin typeface="+mn-lt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Your friend → </a:t>
            </a:r>
            <a:r>
              <a:rPr lang="en-IN" sz="2000" b="1" dirty="0">
                <a:latin typeface="+mn-lt"/>
              </a:rPr>
              <a:t>gets the message</a:t>
            </a:r>
          </a:p>
          <a:p>
            <a:pPr>
              <a:lnSpc>
                <a:spcPct val="200000"/>
              </a:lnSpc>
            </a:pPr>
            <a:endParaRPr lang="en-IN" sz="2000" dirty="0">
              <a:latin typeface="+mn-lt"/>
            </a:endParaRPr>
          </a:p>
          <a:p>
            <a:pPr>
              <a:lnSpc>
                <a:spcPct val="200000"/>
              </a:lnSpc>
              <a:buNone/>
            </a:pPr>
            <a:r>
              <a:rPr lang="en-IN" sz="2000" b="1" dirty="0">
                <a:latin typeface="+mn-lt"/>
              </a:rPr>
              <a:t>Like sending a parcel:</a:t>
            </a:r>
            <a:br>
              <a:rPr lang="en-IN" sz="2000" dirty="0">
                <a:latin typeface="+mn-lt"/>
              </a:rPr>
            </a:br>
            <a:r>
              <a:rPr lang="en-IN" sz="2000" dirty="0">
                <a:latin typeface="+mn-lt"/>
              </a:rPr>
              <a:t>Write → Pack → Label → Transport → Deliver → Unpack → Read</a:t>
            </a:r>
          </a:p>
        </p:txBody>
      </p:sp>
    </p:spTree>
    <p:extLst>
      <p:ext uri="{BB962C8B-B14F-4D97-AF65-F5344CB8AC3E}">
        <p14:creationId xmlns:p14="http://schemas.microsoft.com/office/powerpoint/2010/main" val="350341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D3019D-50E6-3A41-786D-0AA51F349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379591"/>
              </p:ext>
            </p:extLst>
          </p:nvPr>
        </p:nvGraphicFramePr>
        <p:xfrm>
          <a:off x="1143656" y="1744653"/>
          <a:ext cx="8838544" cy="4667000"/>
        </p:xfrm>
        <a:graphic>
          <a:graphicData uri="http://schemas.openxmlformats.org/drawingml/2006/table">
            <a:tbl>
              <a:tblPr/>
              <a:tblGrid>
                <a:gridCol w="4419272">
                  <a:extLst>
                    <a:ext uri="{9D8B030D-6E8A-4147-A177-3AD203B41FA5}">
                      <a16:colId xmlns:a16="http://schemas.microsoft.com/office/drawing/2014/main" val="1295286291"/>
                    </a:ext>
                  </a:extLst>
                </a:gridCol>
                <a:gridCol w="4419272">
                  <a:extLst>
                    <a:ext uri="{9D8B030D-6E8A-4147-A177-3AD203B41FA5}">
                      <a16:colId xmlns:a16="http://schemas.microsoft.com/office/drawing/2014/main" val="1734379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Attack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317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 dirty="0"/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Phishing, malware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90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SSL stripping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58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Session hijacking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231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 dirty="0"/>
                        <a:t>Transport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TCP flooding / port scanning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9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IP spoofing, DDoS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8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Data 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ARP Spoofing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234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/>
                        <a:t>Physical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400" dirty="0"/>
                        <a:t>Cutting cable, jamming Wi-Fi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12629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1C164138-746D-9C74-9C47-368413DE3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838200"/>
            <a:ext cx="8686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Security Relevance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6850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2085A9-B5A8-900E-DFCE-3A6911C0B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08843"/>
              </p:ext>
            </p:extLst>
          </p:nvPr>
        </p:nvGraphicFramePr>
        <p:xfrm>
          <a:off x="304800" y="2209800"/>
          <a:ext cx="11201400" cy="4219616"/>
        </p:xfrm>
        <a:graphic>
          <a:graphicData uri="http://schemas.openxmlformats.org/drawingml/2006/table">
            <a:tbl>
              <a:tblPr/>
              <a:tblGrid>
                <a:gridCol w="1626459">
                  <a:extLst>
                    <a:ext uri="{9D8B030D-6E8A-4147-A177-3AD203B41FA5}">
                      <a16:colId xmlns:a16="http://schemas.microsoft.com/office/drawing/2014/main" val="2950803638"/>
                    </a:ext>
                  </a:extLst>
                </a:gridCol>
                <a:gridCol w="3974241">
                  <a:extLst>
                    <a:ext uri="{9D8B030D-6E8A-4147-A177-3AD203B41FA5}">
                      <a16:colId xmlns:a16="http://schemas.microsoft.com/office/drawing/2014/main" val="807079699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3443610647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3418716478"/>
                    </a:ext>
                  </a:extLst>
                </a:gridCol>
              </a:tblGrid>
              <a:tr h="321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Topology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How it Looks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Realistic Example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Cybersecurity Notes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591602"/>
                  </a:ext>
                </a:extLst>
              </a:tr>
              <a:tr h="562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Bus</a:t>
                      </a:r>
                      <a:endParaRPr lang="en-IN" sz="2000"/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All devices on one line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Old office LAN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One cable cut → entire network fails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093823"/>
                  </a:ext>
                </a:extLst>
              </a:tr>
              <a:tr h="562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Star</a:t>
                      </a:r>
                      <a:endParaRPr lang="en-IN" sz="2000" dirty="0"/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Devices connect to a central switch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Home Wi-Fi router in middle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If router fails → everything down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894608"/>
                  </a:ext>
                </a:extLst>
              </a:tr>
              <a:tr h="562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Ring</a:t>
                      </a:r>
                      <a:endParaRPr lang="en-IN" sz="2000"/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Circular connection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Older telecom networks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Data goes around the circle, slower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672882"/>
                  </a:ext>
                </a:extLst>
              </a:tr>
              <a:tr h="562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Mesh</a:t>
                      </a:r>
                      <a:endParaRPr lang="en-IN" sz="2000"/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Every device connects to every device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Military / big companies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High security + no single failure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45223"/>
                  </a:ext>
                </a:extLst>
              </a:tr>
              <a:tr h="321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Tree</a:t>
                      </a:r>
                      <a:endParaRPr lang="en-IN" sz="2000"/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Star of stars (hierarchy)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College campus network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Attack on root can spread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556451"/>
                  </a:ext>
                </a:extLst>
              </a:tr>
              <a:tr h="321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Hybrid</a:t>
                      </a:r>
                      <a:endParaRPr lang="en-IN" sz="2000"/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Mix of topologies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Corporate networks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Combines advantages</a:t>
                      </a:r>
                    </a:p>
                  </a:txBody>
                  <a:tcPr marL="80288" marR="80288" marT="40144" marB="40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93540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18C7D36-78EC-1D30-6A45-C249CDB88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57481"/>
            <a:ext cx="86106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Network Topologies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topology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shows how devices are connected in a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613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1E506A-66B4-941B-B3C0-C6F0B24BA719}"/>
              </a:ext>
            </a:extLst>
          </p:cNvPr>
          <p:cNvSpPr txBox="1"/>
          <p:nvPr/>
        </p:nvSpPr>
        <p:spPr>
          <a:xfrm>
            <a:off x="914400" y="990600"/>
            <a:ext cx="10210800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HTTP (Hyper Text Transfer Protocol)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Used to transfer web pages between your browser and website.</a:t>
            </a:r>
          </a:p>
          <a:p>
            <a:pPr marL="549275" lvl="7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No encryption</a:t>
            </a:r>
            <a:endParaRPr lang="en-IN" dirty="0"/>
          </a:p>
          <a:p>
            <a:pPr marL="549275" lvl="7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Data travels in </a:t>
            </a:r>
            <a:r>
              <a:rPr lang="en-IN" b="1" dirty="0"/>
              <a:t>plain text</a:t>
            </a:r>
            <a:endParaRPr lang="en-IN" dirty="0"/>
          </a:p>
          <a:p>
            <a:pPr marL="549275" lvl="7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Hackers on same network can </a:t>
            </a:r>
            <a:r>
              <a:rPr lang="en-IN" b="1" dirty="0"/>
              <a:t>read your info</a:t>
            </a:r>
            <a:endParaRPr lang="en-IN" dirty="0"/>
          </a:p>
          <a:p>
            <a:pPr marL="549275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You login on a </a:t>
            </a:r>
            <a:r>
              <a:rPr lang="en-IN" b="1" dirty="0"/>
              <a:t>non-secure website (http://)</a:t>
            </a:r>
            <a:r>
              <a:rPr lang="en-IN" dirty="0"/>
              <a:t> in a café Wi-Fi.</a:t>
            </a:r>
            <a:br>
              <a:rPr lang="en-IN" dirty="0"/>
            </a:br>
            <a:r>
              <a:rPr lang="en-IN" dirty="0"/>
              <a:t>Attacker can capture: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Username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Password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Messages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Like sending a postcard — anyone who sees it can read the message.</a:t>
            </a:r>
          </a:p>
        </p:txBody>
      </p:sp>
    </p:spTree>
    <p:extLst>
      <p:ext uri="{BB962C8B-B14F-4D97-AF65-F5344CB8AC3E}">
        <p14:creationId xmlns:p14="http://schemas.microsoft.com/office/powerpoint/2010/main" val="320087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96E90-0110-8933-10FC-6EBB61646306}"/>
              </a:ext>
            </a:extLst>
          </p:cNvPr>
          <p:cNvSpPr txBox="1"/>
          <p:nvPr/>
        </p:nvSpPr>
        <p:spPr>
          <a:xfrm>
            <a:off x="1066800" y="762000"/>
            <a:ext cx="8382000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HTTPS (HTTP Secure)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Same purpose as HTTP but </a:t>
            </a:r>
            <a:r>
              <a:rPr lang="en-US" b="1" dirty="0"/>
              <a:t>encrypted using SSL/TLS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is </a:t>
            </a:r>
            <a:r>
              <a:rPr lang="en-US" b="1" dirty="0"/>
              <a:t>encrypted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Ensures:</a:t>
            </a:r>
            <a:br>
              <a:rPr lang="en-US" dirty="0"/>
            </a:br>
            <a:r>
              <a:rPr lang="en-US" dirty="0"/>
              <a:t>✔ Confidentiality</a:t>
            </a:r>
            <a:br>
              <a:rPr lang="en-US" dirty="0"/>
            </a:br>
            <a:r>
              <a:rPr lang="en-US" dirty="0"/>
              <a:t>✔ Authenticity</a:t>
            </a:r>
            <a:br>
              <a:rPr lang="en-US" dirty="0"/>
            </a:br>
            <a:r>
              <a:rPr lang="en-US" dirty="0"/>
              <a:t>✔ Integrity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Attackers cannot easily read or modify data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You shop on </a:t>
            </a:r>
            <a:r>
              <a:rPr lang="en-US" b="1" dirty="0"/>
              <a:t>https://amazon.com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Even if someone intercepts the data, they see only </a:t>
            </a:r>
            <a:r>
              <a:rPr lang="en-US" b="1" dirty="0"/>
              <a:t>scrambled text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Like sending a sealed envelope — only the receiver can open it.</a:t>
            </a:r>
          </a:p>
        </p:txBody>
      </p:sp>
    </p:spTree>
    <p:extLst>
      <p:ext uri="{BB962C8B-B14F-4D97-AF65-F5344CB8AC3E}">
        <p14:creationId xmlns:p14="http://schemas.microsoft.com/office/powerpoint/2010/main" val="3857352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CB1DB8-1260-F9F1-0111-717A114A5E22}"/>
              </a:ext>
            </a:extLst>
          </p:cNvPr>
          <p:cNvSpPr txBox="1"/>
          <p:nvPr/>
        </p:nvSpPr>
        <p:spPr>
          <a:xfrm>
            <a:off x="1295400" y="685800"/>
            <a:ext cx="8153400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TCP (Transmission Control Protocol)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Used when you need </a:t>
            </a:r>
            <a:r>
              <a:rPr lang="en-US" b="1" dirty="0"/>
              <a:t>guaranteed and reliable data delivery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Before sending data → creates a </a:t>
            </a:r>
            <a:r>
              <a:rPr lang="en-US" b="1" dirty="0"/>
              <a:t>connection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will reach </a:t>
            </a:r>
            <a:r>
              <a:rPr lang="en-US" b="1" dirty="0"/>
              <a:t>correctly and in order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Slower but safe for important data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Used for: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HTTPS websites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Email (Gmail)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 downloads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Banking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Online money transfer → Must reach properly, otherwise huge problem!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Like a courier service that confirms every delivery with a signature.</a:t>
            </a:r>
          </a:p>
        </p:txBody>
      </p:sp>
    </p:spTree>
    <p:extLst>
      <p:ext uri="{BB962C8B-B14F-4D97-AF65-F5344CB8AC3E}">
        <p14:creationId xmlns:p14="http://schemas.microsoft.com/office/powerpoint/2010/main" val="104372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712D0-9464-460E-29BF-35B60A5AB861}"/>
              </a:ext>
            </a:extLst>
          </p:cNvPr>
          <p:cNvSpPr txBox="1"/>
          <p:nvPr/>
        </p:nvSpPr>
        <p:spPr>
          <a:xfrm>
            <a:off x="914400" y="914400"/>
            <a:ext cx="10896600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UDP (User Datagram Protocol)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Used when </a:t>
            </a:r>
            <a:r>
              <a:rPr lang="en-US" b="1" dirty="0"/>
              <a:t>speed is more important than reliability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connection setup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</a:t>
            </a:r>
            <a:r>
              <a:rPr lang="en-US" b="1" dirty="0"/>
              <a:t>may get lost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Faster but </a:t>
            </a:r>
            <a:r>
              <a:rPr lang="en-US" b="1" dirty="0"/>
              <a:t>less secure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Used for: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Games (PUBG, Free Fire)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Video calls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Live streaming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DNS queries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a video call, if a small part of the audio drops, call continues — speed matters more than perfection.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Like shouting a message in a crowd — fast, but maybe not heard clearly.</a:t>
            </a:r>
          </a:p>
        </p:txBody>
      </p:sp>
    </p:spTree>
    <p:extLst>
      <p:ext uri="{BB962C8B-B14F-4D97-AF65-F5344CB8AC3E}">
        <p14:creationId xmlns:p14="http://schemas.microsoft.com/office/powerpoint/2010/main" val="296822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26D5-B696-E105-2FFA-EA6B96D6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430887"/>
          </a:xfrm>
        </p:spPr>
        <p:txBody>
          <a:bodyPr/>
          <a:lstStyle/>
          <a:p>
            <a:r>
              <a:rPr lang="en-US" dirty="0"/>
              <a:t>Wireshark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9852B-1030-1C36-1FB2-8C408B351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219200"/>
            <a:ext cx="10907395" cy="56673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Wireshark is a </a:t>
            </a:r>
            <a:r>
              <a:rPr lang="en-US" b="1" dirty="0"/>
              <a:t>network protocol analyzer</a:t>
            </a:r>
            <a:r>
              <a:rPr lang="en-US" dirty="0"/>
              <a:t> available in Kali Linux.</a:t>
            </a:r>
            <a:br>
              <a:rPr lang="en-US" dirty="0"/>
            </a:br>
            <a:r>
              <a:rPr lang="en-US" dirty="0"/>
              <a:t>It allows you to </a:t>
            </a:r>
            <a:r>
              <a:rPr lang="en-US" b="1" dirty="0"/>
              <a:t>capture</a:t>
            </a:r>
            <a:r>
              <a:rPr lang="en-US" dirty="0"/>
              <a:t>, </a:t>
            </a:r>
            <a:r>
              <a:rPr lang="en-US" b="1" dirty="0"/>
              <a:t>monitor</a:t>
            </a:r>
            <a:r>
              <a:rPr lang="en-US" dirty="0"/>
              <a:t>, and </a:t>
            </a:r>
            <a:r>
              <a:rPr lang="en-US" b="1" dirty="0"/>
              <a:t>analyze</a:t>
            </a:r>
            <a:r>
              <a:rPr lang="en-US" dirty="0"/>
              <a:t> network traffic in real time.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IN" b="1" dirty="0"/>
              <a:t>What it does</a:t>
            </a:r>
          </a:p>
          <a:p>
            <a:pPr>
              <a:lnSpc>
                <a:spcPct val="150000"/>
              </a:lnSpc>
            </a:pPr>
            <a:r>
              <a:rPr lang="en-IN" dirty="0"/>
              <a:t>Captures packets (data from network interfaces)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Source and destination IP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Protocol used (HTTP, TCP, DNS, etc.)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Port numbers, packet size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Flags, payloads, etc.</a:t>
            </a:r>
          </a:p>
          <a:p>
            <a:pPr>
              <a:lnSpc>
                <a:spcPct val="150000"/>
              </a:lnSpc>
            </a:pPr>
            <a:r>
              <a:rPr lang="en-IN" dirty="0"/>
              <a:t>Helps understand how devices communicate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684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8900BF-6056-0405-03AB-BABAC9AE7C3D}"/>
              </a:ext>
            </a:extLst>
          </p:cNvPr>
          <p:cNvSpPr txBox="1"/>
          <p:nvPr/>
        </p:nvSpPr>
        <p:spPr>
          <a:xfrm>
            <a:off x="914400" y="838200"/>
            <a:ext cx="11277600" cy="557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 err="1"/>
              <a:t>Analyze</a:t>
            </a:r>
            <a:r>
              <a:rPr lang="en-IN" sz="2000" b="1" dirty="0"/>
              <a:t> attacks like: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ARP spoofing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DNS poisoning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/>
              <a:t>MITM attacks</a:t>
            </a:r>
          </a:p>
          <a:p>
            <a:pPr>
              <a:lnSpc>
                <a:spcPct val="150000"/>
              </a:lnSpc>
              <a:buNone/>
            </a:pPr>
            <a:endParaRPr lang="en-IN" sz="2000" dirty="0"/>
          </a:p>
          <a:p>
            <a:pPr>
              <a:lnSpc>
                <a:spcPct val="150000"/>
              </a:lnSpc>
              <a:buNone/>
            </a:pPr>
            <a:endParaRPr lang="en-IN" sz="2000" dirty="0"/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You select a network interface → start capture → Wireshark shows all packets going through that interface with details.</a:t>
            </a:r>
          </a:p>
          <a:p>
            <a:pPr>
              <a:lnSpc>
                <a:spcPct val="150000"/>
              </a:lnSpc>
              <a:buNone/>
            </a:pPr>
            <a:endParaRPr lang="en-US" sz="2000" dirty="0"/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To open Wireshark in Kali: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 err="1"/>
              <a:t>sudo</a:t>
            </a:r>
            <a:r>
              <a:rPr lang="en-IN" sz="2000" b="1" dirty="0"/>
              <a:t> </a:t>
            </a:r>
            <a:r>
              <a:rPr lang="en-IN" sz="2000" b="1" dirty="0" err="1"/>
              <a:t>wireshark</a:t>
            </a:r>
            <a:endParaRPr lang="en-IN" sz="2000" b="1" dirty="0"/>
          </a:p>
          <a:p>
            <a:pPr>
              <a:lnSpc>
                <a:spcPct val="150000"/>
              </a:lnSpc>
              <a:buNone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89691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B9105-2851-47E2-75F3-62D9DF933EF9}"/>
              </a:ext>
            </a:extLst>
          </p:cNvPr>
          <p:cNvSpPr txBox="1"/>
          <p:nvPr/>
        </p:nvSpPr>
        <p:spPr>
          <a:xfrm>
            <a:off x="1905000" y="168989"/>
            <a:ext cx="8534400" cy="6689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ARP Spoofing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ARP = Address Resolution Protocol</a:t>
            </a:r>
            <a:br>
              <a:rPr lang="en-US" dirty="0"/>
            </a:br>
            <a:r>
              <a:rPr lang="en-US" dirty="0"/>
              <a:t>It connects </a:t>
            </a:r>
            <a:r>
              <a:rPr lang="en-US" b="1" dirty="0"/>
              <a:t>IP address ↔ MAC address</a:t>
            </a:r>
            <a:r>
              <a:rPr lang="en-US" dirty="0"/>
              <a:t> in a local network.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IN" b="1" dirty="0"/>
              <a:t>How it works: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Attacker sends fake ARP replies on LAN.</a:t>
            </a:r>
          </a:p>
          <a:p>
            <a:pPr>
              <a:lnSpc>
                <a:spcPct val="150000"/>
              </a:lnSpc>
            </a:pPr>
            <a:r>
              <a:rPr lang="en-IN" dirty="0"/>
              <a:t>Victim updates ARP table with wrong MAC.</a:t>
            </a:r>
          </a:p>
          <a:p>
            <a:pPr>
              <a:lnSpc>
                <a:spcPct val="150000"/>
              </a:lnSpc>
            </a:pPr>
            <a:r>
              <a:rPr lang="en-IN" dirty="0"/>
              <a:t>All packets intended for router → attacker first.</a:t>
            </a:r>
          </a:p>
          <a:p>
            <a:pPr>
              <a:lnSpc>
                <a:spcPct val="150000"/>
              </a:lnSpc>
            </a:pPr>
            <a:r>
              <a:rPr lang="en-IN" dirty="0"/>
              <a:t>Attacker can read, modify, forward traffic.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Effect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Stealing login details</a:t>
            </a:r>
          </a:p>
          <a:p>
            <a:pPr>
              <a:lnSpc>
                <a:spcPct val="150000"/>
              </a:lnSpc>
            </a:pPr>
            <a:r>
              <a:rPr lang="en-IN" dirty="0"/>
              <a:t>Capturing session cookies</a:t>
            </a:r>
          </a:p>
          <a:p>
            <a:pPr>
              <a:lnSpc>
                <a:spcPct val="150000"/>
              </a:lnSpc>
            </a:pPr>
            <a:r>
              <a:rPr lang="en-IN" dirty="0"/>
              <a:t>Redirecting traffic</a:t>
            </a:r>
          </a:p>
          <a:p>
            <a:pPr>
              <a:lnSpc>
                <a:spcPct val="150000"/>
              </a:lnSpc>
            </a:pPr>
            <a:r>
              <a:rPr lang="en-IN" dirty="0"/>
              <a:t>Complete network monitoring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543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3A3F27-40AC-8630-4A6F-CCF982165A13}"/>
              </a:ext>
            </a:extLst>
          </p:cNvPr>
          <p:cNvSpPr txBox="1"/>
          <p:nvPr/>
        </p:nvSpPr>
        <p:spPr>
          <a:xfrm>
            <a:off x="1981200" y="381000"/>
            <a:ext cx="7772400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RP Spoofing –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You are in a </a:t>
            </a:r>
            <a:r>
              <a:rPr lang="en-US" b="1" dirty="0"/>
              <a:t>coffee shop Wi-Fi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Normally:</a:t>
            </a:r>
            <a:br>
              <a:rPr lang="en-US" dirty="0"/>
            </a:br>
            <a:r>
              <a:rPr lang="en-US" dirty="0"/>
              <a:t>You → Router → Internet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Attacker does ARP spoofing:</a:t>
            </a:r>
            <a:br>
              <a:rPr lang="en-US" dirty="0"/>
            </a:br>
            <a:r>
              <a:rPr lang="en-US" dirty="0"/>
              <a:t>Attacker lies → “Hey, I am the router!”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So now:</a:t>
            </a:r>
            <a:br>
              <a:rPr lang="en-US" dirty="0"/>
            </a:br>
            <a:r>
              <a:rPr lang="en-US" dirty="0"/>
              <a:t>You → </a:t>
            </a:r>
            <a:r>
              <a:rPr lang="en-US" b="1" dirty="0"/>
              <a:t>Attacker</a:t>
            </a:r>
            <a:r>
              <a:rPr lang="en-US" dirty="0"/>
              <a:t> → Router → Internet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What attacker can do: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See what websites you open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Steal passwords if not HTTPS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Watch your online chats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Like someone quietly standing between you and the cashier,</a:t>
            </a:r>
            <a:br>
              <a:rPr lang="en-US" dirty="0"/>
            </a:br>
            <a:r>
              <a:rPr lang="en-US" dirty="0"/>
              <a:t>reading everything before giving it to the cashier.</a:t>
            </a:r>
          </a:p>
        </p:txBody>
      </p:sp>
    </p:spTree>
    <p:extLst>
      <p:ext uri="{BB962C8B-B14F-4D97-AF65-F5344CB8AC3E}">
        <p14:creationId xmlns:p14="http://schemas.microsoft.com/office/powerpoint/2010/main" val="3968230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0712F-FDB4-5379-4832-E37791D733CB}"/>
              </a:ext>
            </a:extLst>
          </p:cNvPr>
          <p:cNvSpPr txBox="1"/>
          <p:nvPr/>
        </p:nvSpPr>
        <p:spPr>
          <a:xfrm>
            <a:off x="2133600" y="381000"/>
            <a:ext cx="8153400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DNS Poisoning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DNS = Domain Name System</a:t>
            </a:r>
            <a:br>
              <a:rPr lang="en-US" dirty="0"/>
            </a:br>
            <a:r>
              <a:rPr lang="en-US" dirty="0"/>
              <a:t>It maps </a:t>
            </a:r>
            <a:r>
              <a:rPr lang="en-US" b="1" dirty="0"/>
              <a:t>domain name ↔ IP address</a:t>
            </a:r>
            <a:r>
              <a:rPr lang="en-US" dirty="0"/>
              <a:t> (example.com → real server).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IN" b="1" dirty="0"/>
              <a:t>How it works: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Attacker corrupts the DNS records in cache.</a:t>
            </a:r>
          </a:p>
          <a:p>
            <a:pPr>
              <a:lnSpc>
                <a:spcPct val="150000"/>
              </a:lnSpc>
            </a:pPr>
            <a:r>
              <a:rPr lang="en-IN" dirty="0"/>
              <a:t>When user types </a:t>
            </a:r>
            <a:r>
              <a:rPr lang="en-IN" b="1" dirty="0"/>
              <a:t>google.com</a:t>
            </a:r>
            <a:r>
              <a:rPr lang="en-IN" dirty="0"/>
              <a:t> →</a:t>
            </a:r>
            <a:br>
              <a:rPr lang="en-IN" dirty="0"/>
            </a:br>
            <a:r>
              <a:rPr lang="en-IN" dirty="0"/>
              <a:t>They get redirected to </a:t>
            </a:r>
            <a:r>
              <a:rPr lang="en-IN" b="1" dirty="0"/>
              <a:t>attacker’s fake website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User thinks it’s safe → enters password → stolen.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Effect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Credential theft (phishing)</a:t>
            </a:r>
          </a:p>
          <a:p>
            <a:pPr>
              <a:lnSpc>
                <a:spcPct val="150000"/>
              </a:lnSpc>
            </a:pPr>
            <a:r>
              <a:rPr lang="en-IN" dirty="0"/>
              <a:t>Malware downloads</a:t>
            </a:r>
          </a:p>
          <a:p>
            <a:pPr>
              <a:lnSpc>
                <a:spcPct val="150000"/>
              </a:lnSpc>
            </a:pPr>
            <a:r>
              <a:rPr lang="en-IN" dirty="0"/>
              <a:t>Fake banking websites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5CF21C-0AA0-8878-1835-34F1E3A41FF1}"/>
              </a:ext>
            </a:extLst>
          </p:cNvPr>
          <p:cNvSpPr txBox="1"/>
          <p:nvPr/>
        </p:nvSpPr>
        <p:spPr>
          <a:xfrm>
            <a:off x="1333500" y="990600"/>
            <a:ext cx="9525000" cy="5027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DNS Poisoning –Example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You type </a:t>
            </a:r>
            <a:r>
              <a:rPr lang="en-US" b="1" dirty="0"/>
              <a:t>www.bank.com</a:t>
            </a:r>
            <a:r>
              <a:rPr lang="en-US" dirty="0"/>
              <a:t> → It should go to the real bank.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Attacker poisons DNS:</a:t>
            </a:r>
            <a:br>
              <a:rPr lang="en-US" dirty="0"/>
            </a:br>
            <a:r>
              <a:rPr lang="en-US" dirty="0"/>
              <a:t>Now </a:t>
            </a:r>
            <a:r>
              <a:rPr lang="en-US" b="1" dirty="0"/>
              <a:t>www.bank.com</a:t>
            </a:r>
            <a:r>
              <a:rPr lang="en-US" dirty="0"/>
              <a:t> goes to a </a:t>
            </a:r>
            <a:r>
              <a:rPr lang="en-US" b="1" dirty="0"/>
              <a:t>fake bank website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Fake website looks 100% same → You enter username &amp; password →</a:t>
            </a:r>
            <a:br>
              <a:rPr lang="en-US" dirty="0"/>
            </a:br>
            <a:r>
              <a:rPr lang="en-US" dirty="0"/>
              <a:t>The attacker gets it.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You think you are logging into real bank</a:t>
            </a:r>
            <a:br>
              <a:rPr lang="en-US" dirty="0"/>
            </a:br>
            <a:r>
              <a:rPr lang="en-US" dirty="0"/>
              <a:t>But actually:</a:t>
            </a:r>
            <a:br>
              <a:rPr lang="en-US" dirty="0"/>
            </a:br>
            <a:r>
              <a:rPr lang="en-US" dirty="0"/>
              <a:t>You → Fake website → Attacker → 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It’s like a scammer replacing a road sign so you go to a fake bank instead of the real one.</a:t>
            </a:r>
          </a:p>
        </p:txBody>
      </p:sp>
    </p:spTree>
    <p:extLst>
      <p:ext uri="{BB962C8B-B14F-4D97-AF65-F5344CB8AC3E}">
        <p14:creationId xmlns:p14="http://schemas.microsoft.com/office/powerpoint/2010/main" val="4218310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100976-ADB4-776D-E5DF-1D2715F56E45}"/>
              </a:ext>
            </a:extLst>
          </p:cNvPr>
          <p:cNvSpPr txBox="1"/>
          <p:nvPr/>
        </p:nvSpPr>
        <p:spPr>
          <a:xfrm>
            <a:off x="1066800" y="707742"/>
            <a:ext cx="10896600" cy="585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MITM (Man-In-The-Middle) Attack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 general attack where the attacker </a:t>
            </a:r>
            <a:r>
              <a:rPr lang="en-US" b="1" dirty="0"/>
              <a:t>sits between two communicating devices</a:t>
            </a:r>
            <a:r>
              <a:rPr lang="en-US" dirty="0"/>
              <a:t> without them knowing.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Goal of the attack: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Intercept data</a:t>
            </a:r>
          </a:p>
          <a:p>
            <a:pPr>
              <a:lnSpc>
                <a:spcPct val="150000"/>
              </a:lnSpc>
            </a:pPr>
            <a:r>
              <a:rPr lang="en-US" dirty="0"/>
              <a:t>Modify data</a:t>
            </a:r>
          </a:p>
          <a:p>
            <a:pPr>
              <a:lnSpc>
                <a:spcPct val="150000"/>
              </a:lnSpc>
            </a:pPr>
            <a:r>
              <a:rPr lang="en-US" dirty="0"/>
              <a:t>Inject malicious data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How it works: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Victim → Attacker → Legit Server</a:t>
            </a:r>
            <a:br>
              <a:rPr lang="en-US" dirty="0"/>
            </a:br>
            <a:r>
              <a:rPr lang="en-US" dirty="0"/>
              <a:t>(attacker secretly forwards traffic)</a:t>
            </a:r>
          </a:p>
          <a:p>
            <a:pPr>
              <a:lnSpc>
                <a:spcPct val="150000"/>
              </a:lnSpc>
            </a:pPr>
            <a:r>
              <a:rPr lang="en-US" dirty="0"/>
              <a:t>Looks like normal communication to both sides</a:t>
            </a:r>
          </a:p>
          <a:p>
            <a:pPr>
              <a:lnSpc>
                <a:spcPct val="150000"/>
              </a:lnSpc>
            </a:pPr>
            <a:r>
              <a:rPr lang="en-US" dirty="0"/>
              <a:t>Attacker watches or alters info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260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19E7D2-9FC7-1C93-6188-9DC4476E4FD4}"/>
              </a:ext>
            </a:extLst>
          </p:cNvPr>
          <p:cNvSpPr txBox="1"/>
          <p:nvPr/>
        </p:nvSpPr>
        <p:spPr>
          <a:xfrm>
            <a:off x="914400" y="685800"/>
            <a:ext cx="10668000" cy="5442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MITM (Man-In-The-Middle) –Example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Two people are texting:    </a:t>
            </a:r>
            <a:r>
              <a:rPr lang="en-US" b="1" dirty="0"/>
              <a:t>You ↔ Friend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MITM:</a:t>
            </a:r>
            <a:br>
              <a:rPr lang="en-US" dirty="0"/>
            </a:br>
            <a:r>
              <a:rPr lang="en-US" b="1" dirty="0"/>
              <a:t>You ↔ Attacker ↔ Friend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Attacker secretly: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Reads messages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Changes messages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You message: “Send ₹500”</a:t>
            </a:r>
            <a:br>
              <a:rPr lang="en-US" dirty="0"/>
            </a:br>
            <a:r>
              <a:rPr lang="en-US" dirty="0"/>
              <a:t>Attacker changes to: “Send ₹5000”</a:t>
            </a:r>
            <a:br>
              <a:rPr lang="en-US" dirty="0"/>
            </a:br>
            <a:r>
              <a:rPr lang="en-US" dirty="0"/>
              <a:t>Friend thinks you really asked that.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It’s like passing love letters through someone who opens them, reads them, rewrites them, and then sends them forward.</a:t>
            </a:r>
          </a:p>
        </p:txBody>
      </p:sp>
    </p:spTree>
    <p:extLst>
      <p:ext uri="{BB962C8B-B14F-4D97-AF65-F5344CB8AC3E}">
        <p14:creationId xmlns:p14="http://schemas.microsoft.com/office/powerpoint/2010/main" val="4065449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DE56E5-C9A7-D599-7A0B-F100AA34C321}"/>
              </a:ext>
            </a:extLst>
          </p:cNvPr>
          <p:cNvSpPr txBox="1"/>
          <p:nvPr/>
        </p:nvSpPr>
        <p:spPr>
          <a:xfrm>
            <a:off x="1752600" y="170960"/>
            <a:ext cx="6781800" cy="651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Update Kali first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apt update &amp;&amp; </a:t>
            </a: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apt upgrade -y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Install Wireshark package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apt install </a:t>
            </a:r>
            <a:r>
              <a:rPr lang="en-IN" sz="2000" dirty="0" err="1">
                <a:latin typeface="+mn-lt"/>
              </a:rPr>
              <a:t>wireshark</a:t>
            </a:r>
            <a:r>
              <a:rPr lang="en-IN" sz="2000" dirty="0">
                <a:latin typeface="+mn-lt"/>
              </a:rPr>
              <a:t> -y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Allow non-root users to capture packets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err="1">
                <a:latin typeface="+mn-lt"/>
              </a:rPr>
              <a:t>dpkg</a:t>
            </a:r>
            <a:r>
              <a:rPr lang="en-IN" sz="2000" dirty="0">
                <a:latin typeface="+mn-lt"/>
              </a:rPr>
              <a:t>-reconfigure </a:t>
            </a:r>
            <a:r>
              <a:rPr lang="en-IN" sz="2000" dirty="0" err="1">
                <a:latin typeface="+mn-lt"/>
              </a:rPr>
              <a:t>wireshark</a:t>
            </a:r>
            <a:r>
              <a:rPr lang="en-IN" sz="2000" dirty="0">
                <a:latin typeface="+mn-lt"/>
              </a:rPr>
              <a:t>-common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Add your user to the </a:t>
            </a:r>
            <a:r>
              <a:rPr lang="en-IN" sz="2000" b="1" dirty="0" err="1">
                <a:latin typeface="+mn-lt"/>
              </a:rPr>
              <a:t>wireshark</a:t>
            </a:r>
            <a:r>
              <a:rPr lang="en-IN" sz="2000" b="1" dirty="0">
                <a:latin typeface="+mn-lt"/>
              </a:rPr>
              <a:t> group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err="1">
                <a:latin typeface="+mn-lt"/>
              </a:rPr>
              <a:t>usermod</a:t>
            </a:r>
            <a:r>
              <a:rPr lang="en-IN" sz="2000" dirty="0">
                <a:latin typeface="+mn-lt"/>
              </a:rPr>
              <a:t> -</a:t>
            </a:r>
            <a:r>
              <a:rPr lang="en-IN" sz="2000" dirty="0" err="1">
                <a:latin typeface="+mn-lt"/>
              </a:rPr>
              <a:t>aG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err="1">
                <a:latin typeface="+mn-lt"/>
              </a:rPr>
              <a:t>wireshark</a:t>
            </a:r>
            <a:r>
              <a:rPr lang="en-IN" sz="2000" dirty="0">
                <a:latin typeface="+mn-lt"/>
              </a:rPr>
              <a:t> $USER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Restart your system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reboot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Launch Wireshark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Wireshark or </a:t>
            </a: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</a:t>
            </a:r>
            <a:r>
              <a:rPr lang="en-IN" sz="2000" dirty="0" err="1">
                <a:latin typeface="+mn-lt"/>
              </a:rPr>
              <a:t>wireshark</a:t>
            </a:r>
            <a:endParaRPr lang="en-IN" sz="2000" dirty="0">
              <a:latin typeface="+mn-lt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Verify Installation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+mn-lt"/>
              </a:rPr>
              <a:t>Check version: </a:t>
            </a:r>
            <a:r>
              <a:rPr lang="en-IN" sz="2000" dirty="0" err="1">
                <a:latin typeface="+mn-lt"/>
              </a:rPr>
              <a:t>wireshark</a:t>
            </a:r>
            <a:r>
              <a:rPr lang="en-IN" sz="2000" dirty="0">
                <a:latin typeface="+mn-lt"/>
              </a:rPr>
              <a:t> --version</a:t>
            </a:r>
          </a:p>
        </p:txBody>
      </p:sp>
    </p:spTree>
    <p:extLst>
      <p:ext uri="{BB962C8B-B14F-4D97-AF65-F5344CB8AC3E}">
        <p14:creationId xmlns:p14="http://schemas.microsoft.com/office/powerpoint/2010/main" val="611882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24005-0D7C-F775-4645-97A9DFE6158E}"/>
              </a:ext>
            </a:extLst>
          </p:cNvPr>
          <p:cNvSpPr txBox="1"/>
          <p:nvPr/>
        </p:nvSpPr>
        <p:spPr>
          <a:xfrm>
            <a:off x="800100" y="1219200"/>
            <a:ext cx="10591800" cy="4195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Nmap is a </a:t>
            </a:r>
            <a:r>
              <a:rPr lang="en-US" b="1" dirty="0"/>
              <a:t>network scanning and reconnaissance tool</a:t>
            </a:r>
            <a:r>
              <a:rPr lang="en-US" dirty="0"/>
              <a:t> widely used in cybersecurity and ethical hacking.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What Nmap Does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Nmap helps you </a:t>
            </a:r>
            <a:r>
              <a:rPr lang="en-US" b="1" dirty="0"/>
              <a:t>find information about devices</a:t>
            </a:r>
            <a:r>
              <a:rPr lang="en-US" dirty="0"/>
              <a:t> on a network, such as: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What devices are connected</a:t>
            </a:r>
            <a:br>
              <a:rPr lang="en-US" dirty="0"/>
            </a:br>
            <a:r>
              <a:rPr lang="en-US" dirty="0"/>
              <a:t>✔ What operating system they run</a:t>
            </a:r>
            <a:br>
              <a:rPr lang="en-US" dirty="0"/>
            </a:br>
            <a:r>
              <a:rPr lang="en-US" dirty="0"/>
              <a:t>✔ What ports are open</a:t>
            </a:r>
            <a:br>
              <a:rPr lang="en-US" dirty="0"/>
            </a:br>
            <a:r>
              <a:rPr lang="en-US" dirty="0"/>
              <a:t>✔ What services are running (SSH, FTP, HTTP...)</a:t>
            </a:r>
            <a:br>
              <a:rPr lang="en-US" dirty="0"/>
            </a:br>
            <a:r>
              <a:rPr lang="en-US" dirty="0"/>
              <a:t>✔ Any security weaknesses (vulnerabilities)</a:t>
            </a:r>
          </a:p>
        </p:txBody>
      </p:sp>
    </p:spTree>
    <p:extLst>
      <p:ext uri="{BB962C8B-B14F-4D97-AF65-F5344CB8AC3E}">
        <p14:creationId xmlns:p14="http://schemas.microsoft.com/office/powerpoint/2010/main" val="1063667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52736-39C6-9916-E244-AF0A4F5D9B33}"/>
              </a:ext>
            </a:extLst>
          </p:cNvPr>
          <p:cNvSpPr txBox="1"/>
          <p:nvPr/>
        </p:nvSpPr>
        <p:spPr>
          <a:xfrm>
            <a:off x="1676400" y="304800"/>
            <a:ext cx="9601200" cy="7104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Why Hackers &amp; Security Professionals Use 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Network mapping (discover hosts)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Vulnerability scanning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Penetration testing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Checking firewall security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Finding exposed services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Imagine you connect to a Wi-Fi network and want to see:</a:t>
            </a:r>
          </a:p>
          <a:p>
            <a:pPr>
              <a:lnSpc>
                <a:spcPct val="150000"/>
              </a:lnSpc>
            </a:pPr>
            <a:r>
              <a:rPr lang="en-US" dirty="0"/>
              <a:t>Who else is connected?</a:t>
            </a:r>
            <a:br>
              <a:rPr lang="en-US" dirty="0"/>
            </a:br>
            <a:r>
              <a:rPr lang="en-US" dirty="0"/>
              <a:t>Which devices are unprotected?</a:t>
            </a:r>
            <a:br>
              <a:rPr lang="en-US" dirty="0"/>
            </a:br>
            <a:r>
              <a:rPr lang="en-US" dirty="0"/>
              <a:t>Any open ports like 80 (web) or 22 (SSH)?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Nmap = Network Scanner</a:t>
            </a:r>
            <a:br>
              <a:rPr lang="en-US" dirty="0"/>
            </a:br>
            <a:r>
              <a:rPr lang="en-US" dirty="0"/>
              <a:t>Helps attackers find doors to break in, and security experts lock those doors.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221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55490-4C67-C493-53D7-FF863D0492F4}"/>
              </a:ext>
            </a:extLst>
          </p:cNvPr>
          <p:cNvSpPr txBox="1"/>
          <p:nvPr/>
        </p:nvSpPr>
        <p:spPr>
          <a:xfrm>
            <a:off x="1219200" y="685800"/>
            <a:ext cx="10210800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Install Nmap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+mn-lt"/>
              </a:rPr>
              <a:t>sudo</a:t>
            </a:r>
            <a:r>
              <a:rPr lang="en-IN" sz="2000" dirty="0">
                <a:latin typeface="+mn-lt"/>
              </a:rPr>
              <a:t> apt install </a:t>
            </a:r>
            <a:r>
              <a:rPr lang="en-IN" sz="2000" dirty="0" err="1">
                <a:latin typeface="+mn-lt"/>
              </a:rPr>
              <a:t>nmap</a:t>
            </a:r>
            <a:r>
              <a:rPr lang="en-IN" sz="2000" dirty="0">
                <a:latin typeface="+mn-lt"/>
              </a:rPr>
              <a:t> -y</a:t>
            </a:r>
          </a:p>
          <a:p>
            <a:pPr>
              <a:lnSpc>
                <a:spcPct val="150000"/>
              </a:lnSpc>
              <a:buNone/>
            </a:pPr>
            <a:endParaRPr lang="en-IN" sz="2000" b="1" dirty="0">
              <a:latin typeface="+mn-lt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+mn-lt"/>
              </a:rPr>
              <a:t>Verify installation</a:t>
            </a:r>
          </a:p>
          <a:p>
            <a:pPr rtl="0">
              <a:lnSpc>
                <a:spcPct val="150000"/>
              </a:lnSpc>
              <a:buNone/>
            </a:pPr>
            <a:r>
              <a:rPr lang="en-IN" sz="2000" dirty="0" err="1">
                <a:latin typeface="+mn-lt"/>
              </a:rPr>
              <a:t>nmap</a:t>
            </a:r>
            <a:r>
              <a:rPr lang="en-IN" sz="2000" dirty="0">
                <a:latin typeface="+mn-lt"/>
              </a:rPr>
              <a:t> –version</a:t>
            </a: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+mn-lt"/>
            </a:endParaRP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Cybersecurity Tip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n-lt"/>
              </a:rPr>
              <a:t>Use Nmap </a:t>
            </a:r>
            <a:r>
              <a:rPr lang="en-US" sz="2000" b="1" dirty="0">
                <a:latin typeface="+mn-lt"/>
              </a:rPr>
              <a:t>only on networks or devices you own</a:t>
            </a:r>
            <a:r>
              <a:rPr lang="en-US" sz="2000" dirty="0">
                <a:latin typeface="+mn-lt"/>
              </a:rPr>
              <a:t> or have permission to test.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Unauthorized scanning can be </a:t>
            </a:r>
            <a:r>
              <a:rPr lang="en-US" sz="2000" b="1" dirty="0">
                <a:latin typeface="+mn-lt"/>
              </a:rPr>
              <a:t>illegal</a:t>
            </a:r>
            <a:r>
              <a:rPr lang="en-US" sz="2000" dirty="0">
                <a:latin typeface="+mn-lt"/>
              </a:rPr>
              <a:t>.</a:t>
            </a:r>
          </a:p>
          <a:p>
            <a:pPr rtl="0">
              <a:lnSpc>
                <a:spcPct val="150000"/>
              </a:lnSpc>
              <a:buNone/>
            </a:pP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0803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10E066-700E-6854-2911-184503049E8D}"/>
              </a:ext>
            </a:extLst>
          </p:cNvPr>
          <p:cNvSpPr txBox="1"/>
          <p:nvPr/>
        </p:nvSpPr>
        <p:spPr>
          <a:xfrm>
            <a:off x="4495800" y="3075057"/>
            <a:ext cx="510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69617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</TotalTime>
  <Words>1462</Words>
  <Application>Microsoft Office PowerPoint</Application>
  <PresentationFormat>Widescreen</PresentationFormat>
  <Paragraphs>248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Wireshark &amp; Nmap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Wireshark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</dc:creator>
  <cp:lastModifiedBy>jinu krishnan</cp:lastModifiedBy>
  <cp:revision>25</cp:revision>
  <dcterms:created xsi:type="dcterms:W3CDTF">2025-06-19T08:37:38Z</dcterms:created>
  <dcterms:modified xsi:type="dcterms:W3CDTF">2025-11-27T06:58:23Z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2013</vt:lpwstr>
  </property>
</Properties>
</file>